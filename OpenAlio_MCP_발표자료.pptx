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09360" cy="54864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9360" y="0"/>
            <a:ext cx="5879592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0" y="457200"/>
            <a:ext cx="5212080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0" y="1097280"/>
            <a:ext cx="5212080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1737360"/>
            <a:ext cx="5212080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457200"/>
            <a:ext cx="9144" cy="5943600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457200"/>
            <a:ext cx="228600" cy="228600"/>
          </a:xfrm>
          <a:prstGeom prst="rect">
            <a:avLst/>
          </a:prstGeom>
          <a:solidFill>
            <a:srgbClr val="CCD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371600"/>
            <a:ext cx="4114800" cy="2926080"/>
          </a:xfrm>
          <a:prstGeom prst="rect">
            <a:avLst/>
          </a:prstGeom>
          <a:solidFill>
            <a:srgbClr val="F0F4F9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371600"/>
            <a:ext cx="43891" cy="2926080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50876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73"/>
                </a:solidFill>
              </a:rPr>
              <a:t>핵심 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0116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C2A54"/>
                </a:solidFill>
              </a:rPr>
              <a:t>355개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0665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공공기관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54203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C2A54"/>
                </a:solidFill>
              </a:rPr>
              <a:t>11개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5968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메트릭 카테고리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07238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C2A54"/>
                </a:solidFill>
              </a:rPr>
              <a:t>32개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1272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AI 도구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360273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C2A54"/>
                </a:solidFill>
              </a:rPr>
              <a:t>6년치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시계열 데이터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00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E8E6"/>
                </a:solidFill>
              </a:rPr>
              <a:t>공공기관 경영정보 AI 활용 실험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0972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OpenAlio MCP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578608"/>
            <a:ext cx="3474720" cy="50292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7432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BF4"/>
                </a:solidFill>
              </a:rPr>
              <a:t>공공기관 정보공개의 AI 활용성 제고를 위한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12724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BF4"/>
                </a:solidFill>
              </a:rPr>
              <a:t>MCP 기반 실험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074920"/>
            <a:ext cx="3840480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1937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김보성 사무관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66928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BF4"/>
                </a:solidFill>
              </a:rPr>
              <a:t>재경부 공공정책국  |  2026. 06.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0292" cy="100584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54864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2A54"/>
                </a:solidFill>
              </a:rPr>
              <a:t>01   공공기관 정보공개의 성공, ALIO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5486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5A5B9"/>
                </a:solidFill>
              </a:rPr>
              <a:t>1  /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21792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F6F89"/>
                </a:solidFill>
              </a:rPr>
              <a:t>ALIO는 공공기관 투명성 제고의 대표적 성공 사례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42085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3854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BF4"/>
                </a:solidFill>
              </a:rPr>
              <a:t>OpenAlio MCP  ·  재경부 공공정책국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152144"/>
            <a:ext cx="5527548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152144"/>
            <a:ext cx="43891" cy="512064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243584"/>
            <a:ext cx="53446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789"/>
                </a:solidFill>
              </a:rPr>
              <a:t>ALIO 핵심 성과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1664208"/>
            <a:ext cx="527151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" y="1810512"/>
            <a:ext cx="64008" cy="64008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1783080"/>
            <a:ext cx="51252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828"/>
                </a:solidFill>
              </a:rPr>
              <a:t>공공기관 경영정보 대국민 공개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084832"/>
            <a:ext cx="51252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재무·인사·경영평가 등 50개 공시항목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" y="2770632"/>
            <a:ext cx="64008" cy="64008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743200"/>
            <a:ext cx="51252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828"/>
                </a:solidFill>
              </a:rPr>
              <a:t>국민 알권리 확대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044952"/>
            <a:ext cx="51252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누구나 무료로 열람 가능한 개방형 정보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" y="3730752"/>
            <a:ext cx="64008" cy="64008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703320"/>
            <a:ext cx="51252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828"/>
                </a:solidFill>
              </a:rPr>
              <a:t>공공기관 책임성 강화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005072"/>
            <a:ext cx="51252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공시 의무화로 투명성·책임성 제고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" y="4690872"/>
            <a:ext cx="64008" cy="64008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663440"/>
            <a:ext cx="51252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828"/>
                </a:solidFill>
              </a:rPr>
              <a:t>지속적 서비스 확장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965192"/>
            <a:ext cx="51252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355개 공공기관 정보 통합 제공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7356" y="1152144"/>
            <a:ext cx="5527548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7356" y="1152144"/>
            <a:ext cx="43891" cy="5120640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5372" y="1243584"/>
            <a:ext cx="53446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73"/>
                </a:solidFill>
              </a:rPr>
              <a:t>서비스 발전 연혁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5372" y="1664208"/>
            <a:ext cx="527151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5372" y="1810512"/>
            <a:ext cx="658368" cy="713232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5372" y="1975104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91756" y="1828800"/>
            <a:ext cx="44302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789"/>
                </a:solidFill>
              </a:rPr>
              <a:t>ALIO 출범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1756" y="2176272"/>
            <a:ext cx="44302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공공기관 경영정보 최초 온라인 공개 시작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5412" y="2523744"/>
            <a:ext cx="22860" cy="201168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5372" y="2770632"/>
            <a:ext cx="658368" cy="713232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5372" y="2935224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91756" y="2788920"/>
            <a:ext cx="44302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73"/>
                </a:solidFill>
              </a:rPr>
              <a:t>ALIO PLUS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91756" y="3136392"/>
            <a:ext cx="44302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채용·시설·사업 등 생활밀착 정보 통합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5412" y="3483864"/>
            <a:ext cx="22860" cy="201168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5372" y="3730752"/>
            <a:ext cx="658368" cy="713232"/>
          </a:xfrm>
          <a:prstGeom prst="rect">
            <a:avLst/>
          </a:prstGeom>
          <a:solidFill>
            <a:srgbClr val="50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5372" y="3895344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91756" y="3749040"/>
            <a:ext cx="44302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03787"/>
                </a:solidFill>
              </a:rPr>
              <a:t>JOB-ALIO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91756" y="4096512"/>
            <a:ext cx="44302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공공기관 채용 전문 플랫폼 분리 출범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25412" y="4443984"/>
            <a:ext cx="22860" cy="201168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5372" y="4690872"/>
            <a:ext cx="658368" cy="713232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5372" y="4855464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91756" y="4709160"/>
            <a:ext cx="44302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7C1C"/>
                </a:solidFill>
              </a:rPr>
              <a:t>OpenAlio MCP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91756" y="5056632"/>
            <a:ext cx="44302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AI 활용 가능 개방형 인터페이스 실험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0292" cy="100584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54864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2A54"/>
                </a:solidFill>
              </a:rPr>
              <a:t>02   그러나 AI 시대의 새로운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5486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5A5B9"/>
                </a:solidFill>
              </a:rPr>
              <a:t>2  /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21792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F6F89"/>
                </a:solidFill>
              </a:rPr>
              <a:t>정보 공개는 성공했지만 정보 활용은 여전히 어렵다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42085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3854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BF4"/>
                </a:solidFill>
              </a:rPr>
              <a:t>OpenAlio MCP  ·  재경부 공공정책국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152144"/>
            <a:ext cx="5527548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152144"/>
            <a:ext cx="43891" cy="507492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243584"/>
            <a:ext cx="53446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789"/>
                </a:solidFill>
              </a:rPr>
              <a:t>분산된 공공기관 정보원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1645920"/>
            <a:ext cx="527151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" y="1792224"/>
            <a:ext cx="527151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" y="1792224"/>
            <a:ext cx="36576" cy="566928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470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789"/>
                </a:solidFill>
              </a:rPr>
              <a:t>ALIO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1929384"/>
            <a:ext cx="33329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경영공시 정보 (재무·인사·경영평가)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" y="2459736"/>
            <a:ext cx="527151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" y="2459736"/>
            <a:ext cx="36576" cy="566928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73"/>
                </a:solidFill>
              </a:rPr>
              <a:t>ALIO PLUS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2596896"/>
            <a:ext cx="33329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채용·시설·사업 정보 통합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" y="3127248"/>
            <a:ext cx="527151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" y="3127248"/>
            <a:ext cx="36576" cy="566928"/>
          </a:xfrm>
          <a:prstGeom prst="rect">
            <a:avLst/>
          </a:prstGeom>
          <a:solidFill>
            <a:srgbClr val="50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182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03787"/>
                </a:solidFill>
              </a:rPr>
              <a:t>JOB-ALIO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3264408"/>
            <a:ext cx="33329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채용 공고 전문 서비스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" y="3794760"/>
            <a:ext cx="527151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2064" y="3794760"/>
            <a:ext cx="36576" cy="566928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8496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34728"/>
                </a:solidFill>
              </a:rPr>
              <a:t>기관 홈페이지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3931920"/>
            <a:ext cx="33329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기관별 자체 정보·공고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" y="4462272"/>
            <a:ext cx="527151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2064" y="4462272"/>
            <a:ext cx="36576" cy="566928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5171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C3D"/>
                </a:solidFill>
              </a:rPr>
              <a:t>법령 / 지침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4599432"/>
            <a:ext cx="33329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법적 근거·운영 지침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" y="5129784"/>
            <a:ext cx="527151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2064" y="5129784"/>
            <a:ext cx="36576" cy="566928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1846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7C1C"/>
                </a:solidFill>
              </a:rPr>
              <a:t>뉴스 / 보도자료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95728" y="5266944"/>
            <a:ext cx="33329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실시간 이슈 및 보도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7356" y="1152144"/>
            <a:ext cx="5527548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7356" y="1152144"/>
            <a:ext cx="43891" cy="5074920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5372" y="1243584"/>
            <a:ext cx="53446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34728"/>
                </a:solidFill>
              </a:rPr>
              <a:t>AI 활용이 어려운 이유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5372" y="1645920"/>
            <a:ext cx="527151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5372" y="1810512"/>
            <a:ext cx="5271516" cy="1005840"/>
          </a:xfrm>
          <a:prstGeom prst="rect">
            <a:avLst/>
          </a:prstGeom>
          <a:solidFill>
            <a:srgbClr val="F8E1D8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3388" y="1901952"/>
            <a:ext cx="50703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34728"/>
                </a:solidFill>
              </a:rPr>
              <a:t>분산성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3388" y="2249424"/>
            <a:ext cx="50703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55D"/>
                </a:solidFill>
              </a:rPr>
              <a:t>여러 사이트에 나뉜 정보 — 통합 조회 불가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5372" y="2926080"/>
            <a:ext cx="527151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3388" y="3017520"/>
            <a:ext cx="50703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34728"/>
                </a:solidFill>
              </a:rPr>
              <a:t>비구조성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3388" y="3364992"/>
            <a:ext cx="50703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55D"/>
                </a:solidFill>
              </a:rPr>
              <a:t>PDF·엑셀·웹페이지 혼재 — AI 파싱 어려움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5372" y="4041648"/>
            <a:ext cx="5271516" cy="1005840"/>
          </a:xfrm>
          <a:prstGeom prst="rect">
            <a:avLst/>
          </a:prstGeom>
          <a:solidFill>
            <a:srgbClr val="F8E1D8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3388" y="4133088"/>
            <a:ext cx="50703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34728"/>
                </a:solidFill>
              </a:rPr>
              <a:t>비연결성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3388" y="4480560"/>
            <a:ext cx="50703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55D"/>
                </a:solidFill>
              </a:rPr>
              <a:t>기관 간 연계 없어 비교·분석 불가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5372" y="5157216"/>
            <a:ext cx="527151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33388" y="5248656"/>
            <a:ext cx="50703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34728"/>
                </a:solidFill>
              </a:rPr>
              <a:t>저기계가독성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3388" y="5596128"/>
            <a:ext cx="50703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55D"/>
                </a:solidFill>
              </a:rPr>
              <a:t>표준화된 API 부재 — AI 직접 활용 불가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5372" y="5943600"/>
            <a:ext cx="52715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B34728"/>
                </a:solidFill>
              </a:rPr>
              <a:t>정보는 공개됐지만, AI는 아직 '읽지 못한다'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0292" cy="100584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54864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2A54"/>
                </a:solidFill>
              </a:rPr>
              <a:t>03   국민 입장에서의 Pain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5486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5A5B9"/>
                </a:solidFill>
              </a:rPr>
              <a:t>3  /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21792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F6F89"/>
                </a:solidFill>
              </a:rPr>
              <a:t>정보는 공개되어 있으나 '질문하기' 어렵다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42085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3854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BF4"/>
                </a:solidFill>
              </a:rPr>
              <a:t>OpenAlio MCP  ·  재경부 공공정책국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152144"/>
            <a:ext cx="11420856" cy="566928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152144"/>
            <a:ext cx="50292" cy="566928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243584"/>
            <a:ext cx="110550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  "한국전력의 최근 5년 부채 추이는?"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1828800"/>
            <a:ext cx="5527548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1828800"/>
            <a:ext cx="43891" cy="4526280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920240"/>
            <a:ext cx="53446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34728"/>
                </a:solidFill>
              </a:rPr>
              <a:t>Before  —  현재 절차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2322576"/>
            <a:ext cx="527151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" y="2441448"/>
            <a:ext cx="527151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" y="2441448"/>
            <a:ext cx="329184" cy="475488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2441448"/>
            <a:ext cx="329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496312"/>
            <a:ext cx="47960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ALIO 접속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24962" y="2916936"/>
            <a:ext cx="45720" cy="164592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" y="3081528"/>
            <a:ext cx="527151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" y="3081528"/>
            <a:ext cx="329184" cy="475488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3081528"/>
            <a:ext cx="329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136392"/>
            <a:ext cx="47960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기관 검색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4962" y="3557016"/>
            <a:ext cx="45720" cy="164592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2064" y="3721608"/>
            <a:ext cx="527151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2064" y="3721608"/>
            <a:ext cx="329184" cy="475488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" y="3721608"/>
            <a:ext cx="329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776472"/>
            <a:ext cx="47960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재무현황 이동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4962" y="4197096"/>
            <a:ext cx="45720" cy="164592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2064" y="4361688"/>
            <a:ext cx="527151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2064" y="4361688"/>
            <a:ext cx="329184" cy="475488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" y="4361688"/>
            <a:ext cx="329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416552"/>
            <a:ext cx="47960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자료 다운로드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24962" y="4837176"/>
            <a:ext cx="45720" cy="164592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2064" y="5001768"/>
            <a:ext cx="527151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12064" y="5001768"/>
            <a:ext cx="329184" cy="475488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5001768"/>
            <a:ext cx="329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056632"/>
            <a:ext cx="47960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직접 분석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" y="6144768"/>
            <a:ext cx="52715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B34728"/>
                </a:solidFill>
              </a:rPr>
              <a:t>⏱  수십 분 ~ 수 시간 소요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77356" y="1828800"/>
            <a:ext cx="5527548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77356" y="1828800"/>
            <a:ext cx="43891" cy="4526280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5372" y="1920240"/>
            <a:ext cx="53446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C3D"/>
                </a:solidFill>
              </a:rPr>
              <a:t>After  —  OpenAlio MCP 활용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5372" y="2322576"/>
            <a:ext cx="527151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5372" y="2441448"/>
            <a:ext cx="527151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5372" y="2441448"/>
            <a:ext cx="329184" cy="475488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5372" y="2441448"/>
            <a:ext cx="329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07708" y="2496312"/>
            <a:ext cx="47960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자연어로 질문 입력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18270" y="2916936"/>
            <a:ext cx="45720" cy="164592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5372" y="3081528"/>
            <a:ext cx="527151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5372" y="3081528"/>
            <a:ext cx="329184" cy="475488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5372" y="3081528"/>
            <a:ext cx="329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07708" y="3136392"/>
            <a:ext cx="47960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AI가 MCP 도구 자동 선택·호출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18270" y="3557016"/>
            <a:ext cx="45720" cy="164592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05372" y="3721608"/>
            <a:ext cx="527151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05372" y="3721608"/>
            <a:ext cx="329184" cy="475488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5372" y="3721608"/>
            <a:ext cx="329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07708" y="3776472"/>
            <a:ext cx="47960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ALIO 데이터 실시간 조회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18270" y="4197096"/>
            <a:ext cx="45720" cy="164592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405372" y="4361688"/>
            <a:ext cx="527151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5372" y="4361688"/>
            <a:ext cx="329184" cy="475488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5372" y="4361688"/>
            <a:ext cx="329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07708" y="4416552"/>
            <a:ext cx="47960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분석 · 시각화 수행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18270" y="4837176"/>
            <a:ext cx="45720" cy="164592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5372" y="5001768"/>
            <a:ext cx="527151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5372" y="5001768"/>
            <a:ext cx="329184" cy="475488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5372" y="5001768"/>
            <a:ext cx="329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07708" y="5056632"/>
            <a:ext cx="47960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결과 + 출처 · 공시일 반환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5372" y="6144768"/>
            <a:ext cx="52715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246C3D"/>
                </a:solidFill>
              </a:rPr>
              <a:t>⚡  수 초 이내 완료 · 출처 자동 첨부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0292" cy="100584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54864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2A54"/>
                </a:solidFill>
              </a:rPr>
              <a:t>04   공공기관 실무자 입장에서의 Pain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5486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5A5B9"/>
                </a:solidFill>
              </a:rPr>
              <a:t>4  /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21792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F6F89"/>
                </a:solidFill>
              </a:rPr>
              <a:t>벤치마킹과 업무학습 비용이 높다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42085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3854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BF4"/>
                </a:solidFill>
              </a:rPr>
              <a:t>OpenAlio MCP  ·  재경부 공공정책국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152144"/>
            <a:ext cx="3636264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152144"/>
            <a:ext cx="43891" cy="512064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243584"/>
            <a:ext cx="34533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789"/>
                </a:solidFill>
              </a:rPr>
              <a:t>유사기관 운영사례 탐색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1664208"/>
            <a:ext cx="3380232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792224"/>
            <a:ext cx="3453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34728"/>
                </a:solidFill>
              </a:rPr>
              <a:t>현황 (Pain Point)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2066544"/>
            <a:ext cx="3380232" cy="1417320"/>
          </a:xfrm>
          <a:prstGeom prst="rect">
            <a:avLst/>
          </a:prstGeom>
          <a:solidFill>
            <a:srgbClr val="F8E1D8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157984"/>
            <a:ext cx="31973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동종 기관 운영사례를 여러 사이트에서
수작업으로 수집해야 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639312"/>
            <a:ext cx="3453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46C3D"/>
                </a:solidFill>
              </a:rPr>
              <a:t>MCP 활용 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" y="3913632"/>
            <a:ext cx="3380232" cy="1417320"/>
          </a:xfrm>
          <a:prstGeom prst="rect">
            <a:avLst/>
          </a:prstGeom>
          <a:solidFill>
            <a:srgbClr val="D0ECDB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4005072"/>
            <a:ext cx="31973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AI에게 물어보면 즉시 정리된
벤치마킹 결과 제공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6344" y="1152144"/>
            <a:ext cx="3636264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6344" y="1152144"/>
            <a:ext cx="43891" cy="5120640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4360" y="1243584"/>
            <a:ext cx="34533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73"/>
                </a:solidFill>
              </a:rPr>
              <a:t>경영평가 대응사례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4360" y="1664208"/>
            <a:ext cx="3380232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4360" y="1792224"/>
            <a:ext cx="3453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34728"/>
                </a:solidFill>
              </a:rPr>
              <a:t>현황 (Pain Point)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4360" y="2066544"/>
            <a:ext cx="3380232" cy="1417320"/>
          </a:xfrm>
          <a:prstGeom prst="rect">
            <a:avLst/>
          </a:prstGeom>
          <a:solidFill>
            <a:srgbClr val="F8E1D8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5800" y="2157984"/>
            <a:ext cx="31973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지적사항·우수사례 PDF를 연도별로
일일이 찾아서 검토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4360" y="3639312"/>
            <a:ext cx="3453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46C3D"/>
                </a:solidFill>
              </a:rPr>
              <a:t>MCP 활용 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04360" y="3913632"/>
            <a:ext cx="3380232" cy="1417320"/>
          </a:xfrm>
          <a:prstGeom prst="rect">
            <a:avLst/>
          </a:prstGeom>
          <a:solidFill>
            <a:srgbClr val="D0ECDB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95800" y="4005072"/>
            <a:ext cx="31973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편람 키워드 검색 + 연도별
지적 패턴 즉시 분석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68640" y="1152144"/>
            <a:ext cx="3636264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68640" y="1152144"/>
            <a:ext cx="43891" cy="5120640"/>
          </a:xfrm>
          <a:prstGeom prst="rect">
            <a:avLst/>
          </a:prstGeom>
          <a:solidFill>
            <a:srgbClr val="50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6656" y="1243584"/>
            <a:ext cx="34533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03787"/>
                </a:solidFill>
              </a:rPr>
              <a:t>신규 담당자 업무학습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96656" y="1664208"/>
            <a:ext cx="3380232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6656" y="1792224"/>
            <a:ext cx="3453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34728"/>
                </a:solidFill>
              </a:rPr>
              <a:t>현황 (Pain Point)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96656" y="2066544"/>
            <a:ext cx="3380232" cy="1417320"/>
          </a:xfrm>
          <a:prstGeom prst="rect">
            <a:avLst/>
          </a:prstGeom>
          <a:solidFill>
            <a:srgbClr val="F8E1D8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8096" y="2157984"/>
            <a:ext cx="31973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법령·지침·편람이 분산돼
온보딩 비용 과다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6656" y="3639312"/>
            <a:ext cx="3453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46C3D"/>
                </a:solidFill>
              </a:rPr>
              <a:t>MCP 활용 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96656" y="3913632"/>
            <a:ext cx="3380232" cy="1417320"/>
          </a:xfrm>
          <a:prstGeom prst="rect">
            <a:avLst/>
          </a:prstGeom>
          <a:solidFill>
            <a:srgbClr val="D0ECDB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88096" y="4005072"/>
            <a:ext cx="31973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법령·지침 통합 검색으로
온보딩 시간 대폭 단축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6172200"/>
            <a:ext cx="11420856" cy="475488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6245352"/>
            <a:ext cx="11055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OpenAlio MCP — 법령·지침·편람 통합 검색으로 3가지 Pain Point를 단번에 해결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0292" cy="100584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54864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2A54"/>
                </a:solidFill>
              </a:rPr>
              <a:t>05   재경부·주무부처 공무원 입장에서의 Pain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5486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5A5B9"/>
                </a:solidFill>
              </a:rPr>
              <a:t>5  /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21792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F6F89"/>
                </a:solidFill>
              </a:rPr>
              <a:t>공개된 데이터를 활용하는 데 막대한 행정비용이 발생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42085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3854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BF4"/>
                </a:solidFill>
              </a:rPr>
              <a:t>OpenAlio MCP  ·  재경부 공공정책국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152144"/>
            <a:ext cx="347472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152144"/>
            <a:ext cx="43891" cy="507492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243584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789"/>
                </a:solidFill>
              </a:rPr>
              <a:t>주요 업무 유형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1645920"/>
            <a:ext cx="3218688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" y="1792224"/>
            <a:ext cx="3218688" cy="502920"/>
          </a:xfrm>
          <a:prstGeom prst="rect">
            <a:avLst/>
          </a:prstGeom>
          <a:solidFill>
            <a:srgbClr val="F0F4F9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836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828"/>
                </a:solidFill>
              </a:rPr>
              <a:t>기능개혁 검토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2386584"/>
            <a:ext cx="3218688" cy="502920"/>
          </a:xfrm>
          <a:prstGeom prst="rect">
            <a:avLst/>
          </a:prstGeom>
          <a:solidFill>
            <a:srgbClr val="F0F4F9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780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828"/>
                </a:solidFill>
              </a:rPr>
              <a:t>증원심사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" y="2980944"/>
            <a:ext cx="3218688" cy="502920"/>
          </a:xfrm>
          <a:prstGeom prst="rect">
            <a:avLst/>
          </a:prstGeom>
          <a:solidFill>
            <a:srgbClr val="F0F4F9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723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828"/>
                </a:solidFill>
              </a:rPr>
              <a:t>경영평가 지원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" y="3575304"/>
            <a:ext cx="3218688" cy="502920"/>
          </a:xfrm>
          <a:prstGeom prst="rect">
            <a:avLst/>
          </a:prstGeom>
          <a:solidFill>
            <a:srgbClr val="F0F4F9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667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828"/>
                </a:solidFill>
              </a:rPr>
              <a:t>기관 통합 검토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" y="4169664"/>
            <a:ext cx="3218688" cy="502920"/>
          </a:xfrm>
          <a:prstGeom prst="rect">
            <a:avLst/>
          </a:prstGeom>
          <a:solidFill>
            <a:srgbClr val="F0F4F9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611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828"/>
                </a:solidFill>
              </a:rPr>
              <a:t>보도 대응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764024"/>
            <a:ext cx="3218688" cy="502920"/>
          </a:xfrm>
          <a:prstGeom prst="rect">
            <a:avLst/>
          </a:prstGeom>
          <a:solidFill>
            <a:srgbClr val="F0F4F9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554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828"/>
                </a:solidFill>
              </a:rPr>
              <a:t>팩트체크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33087" y="1152144"/>
            <a:ext cx="7671817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33087" y="1152144"/>
            <a:ext cx="43891" cy="5074920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61103" y="1243584"/>
            <a:ext cx="748893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34728"/>
                </a:solidFill>
              </a:rPr>
              <a:t>실제 업무 흐름 (현재)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61103" y="1645920"/>
            <a:ext cx="7415785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61103" y="1792224"/>
            <a:ext cx="741578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19" y="1883664"/>
            <a:ext cx="72146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828"/>
                </a:solidFill>
              </a:rPr>
              <a:t>기관별 정원·재무·사업 정보 확인 필요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46135" y="2295144"/>
            <a:ext cx="45720" cy="164592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61103" y="2459736"/>
            <a:ext cx="7415785" cy="502920"/>
          </a:xfrm>
          <a:prstGeom prst="rect">
            <a:avLst/>
          </a:prstGeom>
          <a:solidFill>
            <a:srgbClr val="F8E1D8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61103" y="2459736"/>
            <a:ext cx="36576" cy="502920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19" y="2551176"/>
            <a:ext cx="72146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34728"/>
                </a:solidFill>
              </a:rPr>
              <a:t>ALIO 접속 → 항목별 클릭 → 다운로드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46135" y="2962656"/>
            <a:ext cx="45720" cy="164592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61103" y="3127248"/>
            <a:ext cx="7415785" cy="502920"/>
          </a:xfrm>
          <a:prstGeom prst="rect">
            <a:avLst/>
          </a:prstGeom>
          <a:solidFill>
            <a:srgbClr val="F8E1D8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1103" y="3127248"/>
            <a:ext cx="36576" cy="502920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19" y="3218688"/>
            <a:ext cx="72146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34728"/>
                </a:solidFill>
              </a:rPr>
              <a:t>엑셀 파일 수십 개 수작업 정리·가공  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46135" y="3630168"/>
            <a:ext cx="45720" cy="164592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1103" y="3794760"/>
            <a:ext cx="741578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19" y="3886200"/>
            <a:ext cx="72146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분석 수행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46135" y="4297680"/>
            <a:ext cx="45720" cy="164592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61103" y="4462272"/>
            <a:ext cx="741578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19" y="4553712"/>
            <a:ext cx="721461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보고서 작성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61103" y="5925312"/>
            <a:ext cx="74157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B34728"/>
                </a:solidFill>
              </a:rPr>
              <a:t>⚠  기관 1개당 수십 개 파일  ×  355개 기관 = 막대한 행정비용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" y="6172200"/>
            <a:ext cx="11420856" cy="475488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6245352"/>
            <a:ext cx="11055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OpenAlio MCP — 자동화된 데이터 수집·정리로 행정비용 획기적 절감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0292" cy="100584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54864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2A54"/>
                </a:solidFill>
              </a:rPr>
              <a:t>06   연구자 입장에서의 Pain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5486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5A5B9"/>
                </a:solidFill>
              </a:rPr>
              <a:t>6  /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21792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F6F89"/>
                </a:solidFill>
              </a:rPr>
              <a:t>데이터보다 데이터 준비에 더 많은 시간이 소요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42085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3854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BF4"/>
                </a:solidFill>
              </a:rPr>
              <a:t>OpenAlio MCP  ·  재경부 공공정책국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152144"/>
            <a:ext cx="1142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828"/>
                </a:solidFill>
              </a:rPr>
              <a:t>연구 시간의 대부분이 데이터 수집·정제에 소요됩니다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627632"/>
            <a:ext cx="266319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1627632"/>
            <a:ext cx="43891" cy="256032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764792"/>
            <a:ext cx="248031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4789"/>
                </a:solidFill>
              </a:rPr>
              <a:t>수  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2249424"/>
            <a:ext cx="2407158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377440"/>
            <a:ext cx="248031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ALIO·기관 홈페이지
수작업 다운로드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7238" y="2884932"/>
            <a:ext cx="256032" cy="4572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03270" y="1627632"/>
            <a:ext cx="266319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03270" y="1627632"/>
            <a:ext cx="43891" cy="2560320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31286" y="1764792"/>
            <a:ext cx="248031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34728"/>
                </a:solidFill>
              </a:rPr>
              <a:t>정  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31286" y="2249424"/>
            <a:ext cx="2407158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31286" y="2377440"/>
            <a:ext cx="248031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이상값·결측값
수동 처리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66460" y="2884932"/>
            <a:ext cx="256032" cy="4572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22492" y="1627632"/>
            <a:ext cx="266319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22492" y="1627632"/>
            <a:ext cx="43891" cy="2560320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508" y="1764792"/>
            <a:ext cx="248031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A73"/>
                </a:solidFill>
              </a:rPr>
              <a:t>통  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508" y="2249424"/>
            <a:ext cx="2407158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2377440"/>
            <a:ext cx="248031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기관 코드 통일
형식 표준화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85682" y="2884932"/>
            <a:ext cx="256032" cy="4572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1714" y="1627632"/>
            <a:ext cx="266319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1714" y="1627632"/>
            <a:ext cx="43891" cy="2560320"/>
          </a:xfrm>
          <a:prstGeom prst="rect">
            <a:avLst/>
          </a:prstGeom>
          <a:solidFill>
            <a:srgbClr val="50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9730" y="1764792"/>
            <a:ext cx="248031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03787"/>
                </a:solidFill>
              </a:rPr>
              <a:t>전처리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69730" y="2249424"/>
            <a:ext cx="2407158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69730" y="2377440"/>
            <a:ext cx="248031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분석 가능한
형태로 변환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4443984"/>
            <a:ext cx="1142085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4498848"/>
            <a:ext cx="11420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F6F89"/>
                </a:solidFill>
              </a:rPr>
              <a:t>⟳  위 과정을 매 연구마다, 연구자마다 반복 수행  —  연구 준비기간 수 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4919472"/>
            <a:ext cx="11420856" cy="749808"/>
          </a:xfrm>
          <a:prstGeom prst="rect">
            <a:avLst/>
          </a:prstGeom>
          <a:solidFill>
            <a:srgbClr val="D0ECDB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4048" y="4919472"/>
            <a:ext cx="43891" cy="749808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992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46C3D"/>
                </a:solidFill>
              </a:rPr>
              <a:t>OpenAlio MCP 활용 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01568" y="4992624"/>
            <a:ext cx="82204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355개 기관 × 11개 메트릭 × 6년치 데이터를 즉시 제공  ·  출처·공시일·단위 자동 첨부  ·  데이터 준비 시간 90% 단축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0292" cy="100584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54864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2A54"/>
                </a:solidFill>
              </a:rPr>
              <a:t>07   그래서 OpenAlio MCP를 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5486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5A5B9"/>
                </a:solidFill>
              </a:rPr>
              <a:t>7  /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21792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F6F89"/>
                </a:solidFill>
              </a:rPr>
              <a:t>공공기관 정보를 AI가 활용할 수 있도록 연결하는 개방형 인터페이스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42085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3854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BF4"/>
                </a:solidFill>
              </a:rPr>
              <a:t>OpenAlio MCP  ·  재경부 공공정책국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1521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F6F89"/>
                </a:solidFill>
              </a:rPr>
              <a:t>[ 데이터 소스 레이어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499616"/>
            <a:ext cx="1751076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1A4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1499616"/>
            <a:ext cx="1751076" cy="36576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591056"/>
            <a:ext cx="17510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4789"/>
                </a:solidFill>
              </a:rPr>
              <a:t>ALIO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6726" y="2029968"/>
            <a:ext cx="45720" cy="256032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8004" y="1499616"/>
            <a:ext cx="1751076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007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8004" y="1499616"/>
            <a:ext cx="1751076" cy="36576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18004" y="1591056"/>
            <a:ext cx="17510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A73"/>
                </a:solidFill>
              </a:rPr>
              <a:t>ALIO PLUS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0682" y="2029968"/>
            <a:ext cx="45720" cy="256032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1499616"/>
            <a:ext cx="1751076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503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1499616"/>
            <a:ext cx="1751076" cy="36576"/>
          </a:xfrm>
          <a:prstGeom prst="rect">
            <a:avLst/>
          </a:prstGeom>
          <a:solidFill>
            <a:srgbClr val="50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1591056"/>
            <a:ext cx="17510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03787"/>
                </a:solidFill>
              </a:rPr>
              <a:t>JOB-ALIO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04638" y="2029968"/>
            <a:ext cx="45720" cy="256032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5916" y="1499616"/>
            <a:ext cx="1751076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246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5916" y="1499616"/>
            <a:ext cx="1751076" cy="36576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5916" y="1591056"/>
            <a:ext cx="17510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46C3D"/>
                </a:solidFill>
              </a:rPr>
              <a:t>법령·지침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38594" y="2029968"/>
            <a:ext cx="45720" cy="256032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19872" y="1499616"/>
            <a:ext cx="1751076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B34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19872" y="1499616"/>
            <a:ext cx="1751076" cy="36576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9872" y="1591056"/>
            <a:ext cx="17510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34728"/>
                </a:solidFill>
              </a:rPr>
              <a:t>편람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72550" y="2029968"/>
            <a:ext cx="45720" cy="256032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53828" y="1499616"/>
            <a:ext cx="1751076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BF7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53828" y="1499616"/>
            <a:ext cx="1751076" cy="36576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3828" y="1591056"/>
            <a:ext cx="17510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F7C1C"/>
                </a:solidFill>
              </a:rPr>
              <a:t>뉴스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06506" y="2029968"/>
            <a:ext cx="45720" cy="256032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" y="2322576"/>
            <a:ext cx="11420856" cy="1005840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4048" y="2322576"/>
            <a:ext cx="11420856" cy="45720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4048" y="3282696"/>
            <a:ext cx="11420856" cy="45720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2414016"/>
            <a:ext cx="5710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OpenAlio MCP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4476" y="2523744"/>
            <a:ext cx="57104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BF4"/>
                </a:solidFill>
              </a:rPr>
              <a:t>32개 도구  ·  2개 프롬프트  ·  5개 리소스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2852928"/>
            <a:ext cx="9144" cy="475488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4476" y="2834640"/>
            <a:ext cx="57104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BF4"/>
                </a:solidFill>
              </a:rPr>
              <a:t>표준화된 MCP 프로토콜로 어떤 AI에도 동일한 방식으로 연결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03273" y="3374136"/>
            <a:ext cx="45720" cy="22860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787444" y="3374136"/>
            <a:ext cx="45720" cy="22860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71616" y="3374136"/>
            <a:ext cx="45720" cy="22860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55787" y="3374136"/>
            <a:ext cx="45720" cy="22860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639958" y="3374136"/>
            <a:ext cx="45720" cy="22860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36027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F6F89"/>
                </a:solidFill>
              </a:rPr>
              <a:t>[ 활용 대상 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" y="3950208"/>
            <a:ext cx="2615184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4048" y="3950208"/>
            <a:ext cx="43891" cy="804672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" y="4005072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4789"/>
                </a:solidFill>
              </a:rPr>
              <a:t>국민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064" y="437083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정보 조회·질문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19272" y="3950208"/>
            <a:ext cx="2615184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19272" y="3950208"/>
            <a:ext cx="43891" cy="804672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47288" y="4005072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A73"/>
                </a:solidFill>
              </a:rPr>
              <a:t>공공기관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437083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벤치마킹·학습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54496" y="3950208"/>
            <a:ext cx="2615184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4496" y="3950208"/>
            <a:ext cx="43891" cy="804672"/>
          </a:xfrm>
          <a:prstGeom prst="rect">
            <a:avLst/>
          </a:prstGeom>
          <a:solidFill>
            <a:srgbClr val="50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82512" y="4005072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03787"/>
                </a:solidFill>
              </a:rPr>
              <a:t>공무원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82512" y="437083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업무 자동화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89720" y="3950208"/>
            <a:ext cx="2615184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89720" y="3950208"/>
            <a:ext cx="43891" cy="804672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17736" y="4005072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46C3D"/>
                </a:solidFill>
              </a:rPr>
              <a:t>연구자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17736" y="437083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데이터 분석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0292" cy="100584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54864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2A54"/>
                </a:solidFill>
              </a:rPr>
              <a:t>08   MCP란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5486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5A5B9"/>
                </a:solidFill>
              </a:rPr>
              <a:t>8  /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21792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F6F89"/>
                </a:solidFill>
              </a:rPr>
              <a:t>Model Context Protocol — AI 시대의 USB-C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42085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3854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BF4"/>
                </a:solidFill>
              </a:rPr>
              <a:t>OpenAlio MCP  ·  재경부 공공정책국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152144"/>
            <a:ext cx="5527548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152144"/>
            <a:ext cx="43891" cy="507492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243584"/>
            <a:ext cx="53446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789"/>
                </a:solidFill>
              </a:rPr>
              <a:t>USB-C 비유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1645920"/>
            <a:ext cx="527151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773936"/>
            <a:ext cx="52715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34728"/>
                </a:solidFill>
              </a:rPr>
              <a:t>Before  —  기기마다 다른 충전기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12264"/>
            <a:ext cx="1097280" cy="411480"/>
          </a:xfrm>
          <a:prstGeom prst="rect">
            <a:avLst/>
          </a:prstGeom>
          <a:solidFill>
            <a:srgbClr val="F8E1D8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305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34728"/>
                </a:solidFill>
              </a:rPr>
              <a:t>스마트폰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0" y="2231136"/>
            <a:ext cx="201168" cy="73152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47088" y="2112264"/>
            <a:ext cx="201168" cy="411480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65376" y="2112264"/>
            <a:ext cx="1097280" cy="411480"/>
          </a:xfrm>
          <a:prstGeom prst="rect">
            <a:avLst/>
          </a:prstGeom>
          <a:solidFill>
            <a:srgbClr val="F8E1D8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65376" y="21305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34728"/>
                </a:solidFill>
              </a:rPr>
              <a:t>태블릿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62656" y="2231136"/>
            <a:ext cx="201168" cy="73152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63824" y="2112264"/>
            <a:ext cx="201168" cy="411480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82112" y="2112264"/>
            <a:ext cx="1097280" cy="411480"/>
          </a:xfrm>
          <a:prstGeom prst="rect">
            <a:avLst/>
          </a:prstGeom>
          <a:solidFill>
            <a:srgbClr val="F8E1D8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82112" y="21305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34728"/>
                </a:solidFill>
              </a:rPr>
              <a:t>노트북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9392" y="2231136"/>
            <a:ext cx="201168" cy="73152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2112264"/>
            <a:ext cx="201168" cy="411480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98848" y="2112264"/>
            <a:ext cx="1097280" cy="411480"/>
          </a:xfrm>
          <a:prstGeom prst="rect">
            <a:avLst/>
          </a:prstGeom>
          <a:solidFill>
            <a:srgbClr val="F8E1D8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21305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34728"/>
                </a:solidFill>
              </a:rPr>
              <a:t>카메라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96128" y="2231136"/>
            <a:ext cx="201168" cy="73152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97296" y="2112264"/>
            <a:ext cx="201168" cy="411480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2064" y="2706624"/>
            <a:ext cx="527151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" y="2834640"/>
            <a:ext cx="52715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46C3D"/>
                </a:solidFill>
              </a:rPr>
              <a:t>After  —  USB-C 하나로 통일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182112"/>
            <a:ext cx="1097280" cy="411480"/>
          </a:xfrm>
          <a:prstGeom prst="rect">
            <a:avLst/>
          </a:prstGeom>
          <a:solidFill>
            <a:srgbClr val="D0ECDB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200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C3D"/>
                </a:solidFill>
              </a:rPr>
              <a:t>스마트폰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9847" y="3593592"/>
            <a:ext cx="45720" cy="27432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65376" y="3182112"/>
            <a:ext cx="1097280" cy="411480"/>
          </a:xfrm>
          <a:prstGeom prst="rect">
            <a:avLst/>
          </a:prstGeom>
          <a:solidFill>
            <a:srgbClr val="D0ECDB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65376" y="3200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C3D"/>
                </a:solidFill>
              </a:rPr>
              <a:t>태블릿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86583" y="3593592"/>
            <a:ext cx="45720" cy="27432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82112" y="3182112"/>
            <a:ext cx="1097280" cy="411480"/>
          </a:xfrm>
          <a:prstGeom prst="rect">
            <a:avLst/>
          </a:prstGeom>
          <a:solidFill>
            <a:srgbClr val="D0ECDB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82112" y="3200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C3D"/>
                </a:solidFill>
              </a:rPr>
              <a:t>노트북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03319" y="3593592"/>
            <a:ext cx="45720" cy="27432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8848" y="3182112"/>
            <a:ext cx="1097280" cy="411480"/>
          </a:xfrm>
          <a:prstGeom prst="rect">
            <a:avLst/>
          </a:prstGeom>
          <a:solidFill>
            <a:srgbClr val="D0ECDB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98848" y="3200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C3D"/>
                </a:solidFill>
              </a:rPr>
              <a:t>카메라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0055" y="3593592"/>
            <a:ext cx="45720" cy="27432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69848" y="3867912"/>
            <a:ext cx="4613148" cy="45720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30752" y="3913632"/>
            <a:ext cx="45720" cy="274320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46704" y="4187952"/>
            <a:ext cx="822960" cy="384048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6704" y="420624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USB-C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77356" y="1152144"/>
            <a:ext cx="5527548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77356" y="1152144"/>
            <a:ext cx="43891" cy="5074920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5372" y="1243584"/>
            <a:ext cx="53446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73"/>
                </a:solidFill>
              </a:rPr>
              <a:t>MCP = Model Context Protocol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5372" y="1645920"/>
            <a:ext cx="527151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5372" y="1773936"/>
            <a:ext cx="52715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828"/>
                </a:solidFill>
              </a:rPr>
              <a:t>AI 모델이 다양한 외부 데이터·도구와
표준화된 방식으로 연결하는 프로토콜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5372" y="2724912"/>
            <a:ext cx="527151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5372" y="2724912"/>
            <a:ext cx="36576" cy="548640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3388" y="27980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73"/>
                </a:solidFill>
              </a:rPr>
              <a:t>표준화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23276" y="2852928"/>
            <a:ext cx="36987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어떤 AI든 동일한 방식으로 연결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5372" y="3364992"/>
            <a:ext cx="527151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5372" y="3364992"/>
            <a:ext cx="36576" cy="54864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33388" y="34381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789"/>
                </a:solidFill>
              </a:rPr>
              <a:t>안전성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23276" y="3493008"/>
            <a:ext cx="36987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입력 검증 · 응답 크기 제한 내장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5372" y="4005072"/>
            <a:ext cx="527151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05372" y="4005072"/>
            <a:ext cx="36576" cy="548640"/>
          </a:xfrm>
          <a:prstGeom prst="rect">
            <a:avLst/>
          </a:prstGeom>
          <a:solidFill>
            <a:srgbClr val="50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33388" y="40782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03787"/>
                </a:solidFill>
              </a:rPr>
              <a:t>모듈성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23276" y="4133088"/>
            <a:ext cx="36987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도구 단위로 독립 추가·제거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5372" y="4645152"/>
            <a:ext cx="527151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5372" y="4645152"/>
            <a:ext cx="36576" cy="548640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33388" y="47183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C3D"/>
                </a:solidFill>
              </a:rPr>
              <a:t>확장성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23276" y="4773168"/>
            <a:ext cx="36987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새 데이터소스 연결 용이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5372" y="5285232"/>
            <a:ext cx="527151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5372" y="5285232"/>
            <a:ext cx="36576" cy="548640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33388" y="53583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7C1C"/>
                </a:solidFill>
              </a:rPr>
              <a:t>투명성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23276" y="5413248"/>
            <a:ext cx="36987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출처·공시일·단위 자동 첨부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5372" y="5925312"/>
            <a:ext cx="52715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7A73"/>
                </a:solidFill>
              </a:rPr>
              <a:t>Claude · ChatGPT · Cursor · 브리티웍스 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0292" cy="100584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54864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2A54"/>
                </a:solidFill>
              </a:rPr>
              <a:t>09   OpenAlio MCP는 어떻게 동작하는가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5486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5A5B9"/>
                </a:solidFill>
              </a:rPr>
              <a:t>9  /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21792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F6F89"/>
                </a:solidFill>
              </a:rPr>
              <a:t>질문 한 번으로 공공기관 데이터 분석·보고서까지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42085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3854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BF4"/>
                </a:solidFill>
              </a:rPr>
              <a:t>OpenAlio MCP  ·  재경부 공공정책국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17036" y="1243584"/>
            <a:ext cx="4754880" cy="512064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8476" y="131673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사용자 질문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71616" y="1755648"/>
            <a:ext cx="45720" cy="18288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17036" y="1938528"/>
            <a:ext cx="4754880" cy="512064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08476" y="20116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  (Claude / ChatGPT 등)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2450592"/>
            <a:ext cx="45720" cy="18288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17036" y="2633472"/>
            <a:ext cx="4754880" cy="512064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08476" y="270662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OpenAlio MCP  (32개 도구)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71616" y="3145536"/>
            <a:ext cx="45720" cy="18288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17036" y="3328416"/>
            <a:ext cx="4754880" cy="512064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08476" y="340156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ALIO · 법령 · 뉴스 조회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71616" y="3840480"/>
            <a:ext cx="45720" cy="18288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17036" y="4023360"/>
            <a:ext cx="4754880" cy="512064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08476" y="40965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분석 수행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71616" y="4535424"/>
            <a:ext cx="45720" cy="18288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17036" y="4718304"/>
            <a:ext cx="4754880" cy="512064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08476" y="479145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결과 + 출처 · 공시일 반환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1152144"/>
            <a:ext cx="30175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" y="1152144"/>
            <a:ext cx="43891" cy="502920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" y="1243584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789"/>
                </a:solidFill>
              </a:rPr>
              <a:t>예시 질문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" y="1645920"/>
            <a:ext cx="2670048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2064" y="1773936"/>
            <a:ext cx="2670048" cy="1188720"/>
          </a:xfrm>
          <a:prstGeom prst="rect">
            <a:avLst/>
          </a:prstGeom>
          <a:solidFill>
            <a:srgbClr val="CCDBF4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1920240"/>
            <a:ext cx="2487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C2A54"/>
                </a:solidFill>
              </a:rPr>
              <a:t>"최근 5년 부채 증가율
상위 10개 기관"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" y="3127248"/>
            <a:ext cx="2670048" cy="1188720"/>
          </a:xfrm>
          <a:prstGeom prst="rect">
            <a:avLst/>
          </a:prstGeom>
          <a:solidFill>
            <a:srgbClr val="CCDBF4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3273552"/>
            <a:ext cx="2487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C2A54"/>
                </a:solidFill>
              </a:rPr>
              <a:t>"A기관·B기관 통합
검토 보고서"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" y="4480560"/>
            <a:ext cx="2670048" cy="1188720"/>
          </a:xfrm>
          <a:prstGeom prst="rect">
            <a:avLst/>
          </a:prstGeom>
          <a:solidFill>
            <a:srgbClr val="CCDBF4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4626864"/>
            <a:ext cx="2487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C2A54"/>
                </a:solidFill>
              </a:rPr>
              <a:t>"육아휴직 사용률 가장
높은 기관은?"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87384" y="1152144"/>
            <a:ext cx="30175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87384" y="1152144"/>
            <a:ext cx="43891" cy="5029200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15400" y="1243584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C3D"/>
                </a:solidFill>
              </a:rPr>
              <a:t>출력 형태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15400" y="1645920"/>
            <a:ext cx="2670048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15400" y="1773936"/>
            <a:ext cx="2670048" cy="749808"/>
          </a:xfrm>
          <a:prstGeom prst="rect">
            <a:avLst/>
          </a:prstGeom>
          <a:solidFill>
            <a:srgbClr val="D0ECDB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06840" y="18288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C3D"/>
                </a:solidFill>
              </a:rPr>
              <a:t>시계열 차트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215798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6F89"/>
                </a:solidFill>
              </a:rPr>
              <a:t>연도별 추이 자동 시각화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15400" y="2642616"/>
            <a:ext cx="2670048" cy="749808"/>
          </a:xfrm>
          <a:prstGeom prst="rect">
            <a:avLst/>
          </a:prstGeom>
          <a:solidFill>
            <a:srgbClr val="D0ECDB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40" y="269748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C3D"/>
                </a:solidFill>
              </a:rPr>
              <a:t>비교 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302666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6F89"/>
                </a:solidFill>
              </a:rPr>
              <a:t>기관 간 지표 나란히 비교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15400" y="3511296"/>
            <a:ext cx="2670048" cy="749808"/>
          </a:xfrm>
          <a:prstGeom prst="rect">
            <a:avLst/>
          </a:prstGeom>
          <a:solidFill>
            <a:srgbClr val="D0ECDB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06840" y="35661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C3D"/>
                </a:solidFill>
              </a:rPr>
              <a:t>보고서 초안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389534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6F89"/>
                </a:solidFill>
              </a:rPr>
              <a:t>분석 결과 정형화된 텍스트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15400" y="4379976"/>
            <a:ext cx="2670048" cy="749808"/>
          </a:xfrm>
          <a:prstGeom prst="rect">
            <a:avLst/>
          </a:prstGeom>
          <a:solidFill>
            <a:srgbClr val="D0ECDB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06840" y="44348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C3D"/>
                </a:solidFill>
              </a:rPr>
              <a:t>출처 첨부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476402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6F89"/>
                </a:solidFill>
              </a:rPr>
              <a:t>시스템명·공시일·단위 포함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15400" y="5248656"/>
            <a:ext cx="2670048" cy="749808"/>
          </a:xfrm>
          <a:prstGeom prst="rect">
            <a:avLst/>
          </a:prstGeom>
          <a:solidFill>
            <a:srgbClr val="D0ECDB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6840" y="53035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C3D"/>
                </a:solidFill>
              </a:rPr>
              <a:t>결측 안내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563270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6F89"/>
                </a:solidFill>
              </a:rPr>
              <a:t>미공시·공시주기 안내 포함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0292" cy="100584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54864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2A54"/>
                </a:solidFill>
              </a:rPr>
              <a:t>10   활용 사례 ①  국민 서비스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5486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5A5B9"/>
                </a:solidFill>
              </a:rPr>
              <a:t>10  /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21792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F6F89"/>
                </a:solidFill>
              </a:rPr>
              <a:t>누구나 AI에게 물어보면 공공기관 정보를 즉시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42085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3854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BF4"/>
                </a:solidFill>
              </a:rPr>
              <a:t>OpenAlio MCP  ·  재경부 공공정책국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152144"/>
            <a:ext cx="3636264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152144"/>
            <a:ext cx="43891" cy="507492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" y="1289304"/>
            <a:ext cx="3380232" cy="1234440"/>
          </a:xfrm>
          <a:prstGeom prst="rect">
            <a:avLst/>
          </a:prstGeom>
          <a:solidFill>
            <a:srgbClr val="F0F4F9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353312"/>
            <a:ext cx="3197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F6F89"/>
                </a:solidFill>
              </a:rPr>
              <a:t>질문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627632"/>
            <a:ext cx="319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789"/>
                </a:solidFill>
              </a:rPr>
              <a:t>"한전 부채 얼마야?"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2660904"/>
            <a:ext cx="3380232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98064"/>
            <a:ext cx="3380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789"/>
                </a:solidFill>
              </a:rPr>
              <a:t>→  결과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" y="3127248"/>
            <a:ext cx="3380232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3255264"/>
            <a:ext cx="31973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55D"/>
                </a:solidFill>
              </a:rPr>
              <a:t>한국전력 최근 5년 부채 추이
수치·그래프 즉시 제공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6344" y="1152144"/>
            <a:ext cx="3636264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6344" y="1152144"/>
            <a:ext cx="43891" cy="5074920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4360" y="1289304"/>
            <a:ext cx="3380232" cy="1234440"/>
          </a:xfrm>
          <a:prstGeom prst="rect">
            <a:avLst/>
          </a:prstGeom>
          <a:solidFill>
            <a:srgbClr val="F0F4F9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5800" y="1353312"/>
            <a:ext cx="3197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F6F89"/>
                </a:solidFill>
              </a:rPr>
              <a:t>질문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5800" y="1627632"/>
            <a:ext cx="319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73"/>
                </a:solidFill>
              </a:rPr>
              <a:t>"육아휴직 사용률이
가장 높은 기관은?"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4360" y="2660904"/>
            <a:ext cx="3380232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4360" y="2798064"/>
            <a:ext cx="3380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73"/>
                </a:solidFill>
              </a:rPr>
              <a:t>→  결과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04360" y="3127248"/>
            <a:ext cx="3380232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5800" y="3255264"/>
            <a:ext cx="31973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55D"/>
                </a:solidFill>
              </a:rPr>
              <a:t>355개 기관 육아휴직 데이터
순위 표 자동 생성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68640" y="1152144"/>
            <a:ext cx="3636264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68640" y="1152144"/>
            <a:ext cx="43891" cy="5074920"/>
          </a:xfrm>
          <a:prstGeom prst="rect">
            <a:avLst/>
          </a:prstGeom>
          <a:solidFill>
            <a:srgbClr val="50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96656" y="1289304"/>
            <a:ext cx="3380232" cy="1234440"/>
          </a:xfrm>
          <a:prstGeom prst="rect">
            <a:avLst/>
          </a:prstGeom>
          <a:solidFill>
            <a:srgbClr val="F0F4F9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8096" y="1353312"/>
            <a:ext cx="3197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F6F89"/>
                </a:solidFill>
              </a:rPr>
              <a:t>질문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8096" y="1627632"/>
            <a:ext cx="319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03787"/>
                </a:solidFill>
              </a:rPr>
              <a:t>"근처 공공기관
체육시설 알려줘"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96656" y="2660904"/>
            <a:ext cx="3380232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6656" y="2798064"/>
            <a:ext cx="3380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03787"/>
                </a:solidFill>
              </a:rPr>
              <a:t>→  결과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96656" y="3127248"/>
            <a:ext cx="3380232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8096" y="3255264"/>
            <a:ext cx="31973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55D"/>
                </a:solidFill>
              </a:rPr>
              <a:t>ALIO PLUS 시설 정보
예약 링크·운영시간 안내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6172200"/>
            <a:ext cx="11420856" cy="475488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6245352"/>
            <a:ext cx="11055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사용자는 웹사이트 구조를 몰라도 됩니다  —  질문만 하면 됩니다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0292" cy="100584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54864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2A54"/>
                </a:solidFill>
              </a:rPr>
              <a:t>11   활용 사례 ②  공공기관 실무자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5486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5A5B9"/>
                </a:solidFill>
              </a:rPr>
              <a:t>11  /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21792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F6F89"/>
                </a:solidFill>
              </a:rPr>
              <a:t>벤치마킹·평가 대응·조직운영 정보를 즉시 활용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42085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3854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BF4"/>
                </a:solidFill>
              </a:rPr>
              <a:t>OpenAlio MCP  ·  재경부 공공정책국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152144"/>
            <a:ext cx="3636264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152144"/>
            <a:ext cx="43891" cy="507492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243584"/>
            <a:ext cx="34533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789"/>
                </a:solidFill>
              </a:rPr>
              <a:t>유사기관 ESG 우수사례 정리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1645920"/>
            <a:ext cx="3380232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" y="1773936"/>
            <a:ext cx="3380232" cy="822960"/>
          </a:xfrm>
          <a:prstGeom prst="rect">
            <a:avLst/>
          </a:prstGeom>
          <a:solidFill>
            <a:srgbClr val="F0F4F9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828800"/>
            <a:ext cx="3197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F6F89"/>
                </a:solidFill>
              </a:rPr>
              <a:t>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2066544"/>
            <a:ext cx="319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4789"/>
                </a:solidFill>
              </a:rPr>
              <a:t>"유사기관 ESG 우수사례 정리"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" y="2743200"/>
            <a:ext cx="3380232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2871216"/>
            <a:ext cx="3380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789"/>
                </a:solidFill>
              </a:rPr>
              <a:t>출력 결과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" y="3200400"/>
            <a:ext cx="3380232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328416"/>
            <a:ext cx="319735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55D"/>
                </a:solidFill>
              </a:rPr>
              <a:t>동종 기관 ESG 공시 항목
우수 사례 자동 요약 제공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6344" y="1152144"/>
            <a:ext cx="3636264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6344" y="1152144"/>
            <a:ext cx="43891" cy="5074920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4360" y="1243584"/>
            <a:ext cx="34533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73"/>
                </a:solidFill>
              </a:rPr>
              <a:t>경영평가 지적사항 분석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4360" y="1645920"/>
            <a:ext cx="3380232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04360" y="1773936"/>
            <a:ext cx="3380232" cy="822960"/>
          </a:xfrm>
          <a:prstGeom prst="rect">
            <a:avLst/>
          </a:prstGeom>
          <a:solidFill>
            <a:srgbClr val="F0F4F9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5800" y="1828800"/>
            <a:ext cx="3197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F6F89"/>
                </a:solidFill>
              </a:rPr>
              <a:t>질문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5800" y="2066544"/>
            <a:ext cx="319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7A73"/>
                </a:solidFill>
              </a:rPr>
              <a:t>"최근 경영평가 지적사항 분석"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04360" y="2743200"/>
            <a:ext cx="3380232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4360" y="2871216"/>
            <a:ext cx="3380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73"/>
                </a:solidFill>
              </a:rPr>
              <a:t>출력 결과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04360" y="3200400"/>
            <a:ext cx="3380232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5800" y="3328416"/>
            <a:ext cx="319735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55D"/>
                </a:solidFill>
              </a:rPr>
              <a:t>2025·2026 평가편람 기준
지적 패턴·주요 지표 분석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68640" y="1152144"/>
            <a:ext cx="3636264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68640" y="1152144"/>
            <a:ext cx="43891" cy="5074920"/>
          </a:xfrm>
          <a:prstGeom prst="rect">
            <a:avLst/>
          </a:prstGeom>
          <a:solidFill>
            <a:srgbClr val="50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6656" y="1243584"/>
            <a:ext cx="34533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03787"/>
                </a:solidFill>
              </a:rPr>
              <a:t>기관별 조직운영 비교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96656" y="1645920"/>
            <a:ext cx="3380232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96656" y="1773936"/>
            <a:ext cx="3380232" cy="822960"/>
          </a:xfrm>
          <a:prstGeom prst="rect">
            <a:avLst/>
          </a:prstGeom>
          <a:solidFill>
            <a:srgbClr val="F0F4F9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88096" y="1828800"/>
            <a:ext cx="3197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F6F89"/>
                </a:solidFill>
              </a:rPr>
              <a:t>질문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8096" y="2066544"/>
            <a:ext cx="319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3787"/>
                </a:solidFill>
              </a:rPr>
              <a:t>"기관별 조직운영 비교"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96656" y="2743200"/>
            <a:ext cx="3380232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96656" y="2871216"/>
            <a:ext cx="3380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03787"/>
                </a:solidFill>
              </a:rPr>
              <a:t>출력 결과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96656" y="3200400"/>
            <a:ext cx="3380232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88096" y="3328416"/>
            <a:ext cx="319735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55D"/>
                </a:solidFill>
              </a:rPr>
              <a:t>정원·실인원·보수 등
11개 메트릭 동시 비교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" y="6172200"/>
            <a:ext cx="11420856" cy="475488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6245352"/>
            <a:ext cx="11055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법령·지침·편람 통합 검색  —  신규 담당자 온보딩 시간 대폭 단축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0292" cy="100584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54864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2A54"/>
                </a:solidFill>
              </a:rPr>
              <a:t>12   활용 사례 ③  재경부 업무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5486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5A5B9"/>
                </a:solidFill>
              </a:rPr>
              <a:t>12  /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21792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F6F89"/>
                </a:solidFill>
              </a:rPr>
              <a:t>기관 통합 검토 보고서를 AI가 자동으로 작성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42085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3854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BF4"/>
                </a:solidFill>
              </a:rPr>
              <a:t>OpenAlio MCP  ·  재경부 공공정책국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152144"/>
            <a:ext cx="11420856" cy="603504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152144"/>
            <a:ext cx="50292" cy="603504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252728"/>
            <a:ext cx="110733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  "A기관과 B기관의 통합 검토 보고서를 작성해 줘"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1865376"/>
            <a:ext cx="2223211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1865376"/>
            <a:ext cx="43891" cy="109728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938528"/>
            <a:ext cx="20403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789"/>
                </a:solidFill>
              </a:rPr>
              <a:t>재무현황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340864"/>
            <a:ext cx="20403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6F89"/>
                </a:solidFill>
              </a:rPr>
              <a:t>부채·자산·수익 최근 5년 추이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8699" y="1865376"/>
            <a:ext cx="2223211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98699" y="1865376"/>
            <a:ext cx="43891" cy="1097280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26715" y="1938528"/>
            <a:ext cx="20403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73"/>
                </a:solidFill>
              </a:rPr>
              <a:t>인력현황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26715" y="2340864"/>
            <a:ext cx="20403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6F89"/>
                </a:solidFill>
              </a:rPr>
              <a:t>정원·실인원·신규 채용 현황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13350" y="1865376"/>
            <a:ext cx="2223211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13350" y="1865376"/>
            <a:ext cx="43891" cy="1097280"/>
          </a:xfrm>
          <a:prstGeom prst="rect">
            <a:avLst/>
          </a:prstGeom>
          <a:solidFill>
            <a:srgbClr val="50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1366" y="1938528"/>
            <a:ext cx="20403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03787"/>
                </a:solidFill>
              </a:rPr>
              <a:t>주요사업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1366" y="2340864"/>
            <a:ext cx="20403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6F89"/>
                </a:solidFill>
              </a:rPr>
              <a:t>설립 목적·핵심 기능 정리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3099816"/>
            <a:ext cx="2223211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" y="3099816"/>
            <a:ext cx="43891" cy="1097280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3172968"/>
            <a:ext cx="20403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34728"/>
                </a:solidFill>
              </a:rPr>
              <a:t>지역분포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3575304"/>
            <a:ext cx="20403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6F89"/>
                </a:solidFill>
              </a:rPr>
              <a:t>본사·지사 소재지·지역별 인력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8699" y="3099816"/>
            <a:ext cx="2223211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98699" y="3099816"/>
            <a:ext cx="43891" cy="1097280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26715" y="3172968"/>
            <a:ext cx="20403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C3D"/>
                </a:solidFill>
              </a:rPr>
              <a:t>중복기능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26715" y="3575304"/>
            <a:ext cx="20403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6F89"/>
                </a:solidFill>
              </a:rPr>
              <a:t>유사 기능 도출·통합 시 효율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13350" y="3099816"/>
            <a:ext cx="2223211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13350" y="3099816"/>
            <a:ext cx="43891" cy="1097280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41366" y="3172968"/>
            <a:ext cx="20403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7C1C"/>
                </a:solidFill>
              </a:rPr>
              <a:t>기대효과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41366" y="3575304"/>
            <a:ext cx="20403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6F89"/>
                </a:solidFill>
              </a:rPr>
              <a:t>시나리오별 예상 효과 요약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64978" y="1865376"/>
            <a:ext cx="4339925" cy="2359152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64978" y="1865376"/>
            <a:ext cx="43891" cy="2359152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92994" y="1956816"/>
            <a:ext cx="415704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7C1C"/>
                </a:solidFill>
              </a:rPr>
              <a:t>기대 효과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92994" y="2359152"/>
            <a:ext cx="4083893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92994" y="2487168"/>
            <a:ext cx="4083893" cy="402336"/>
          </a:xfrm>
          <a:prstGeom prst="rect">
            <a:avLst/>
          </a:prstGeom>
          <a:solidFill>
            <a:srgbClr val="FCEDC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92994" y="2487168"/>
            <a:ext cx="36576" cy="402336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02722" y="2560320"/>
            <a:ext cx="393758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828"/>
                </a:solidFill>
              </a:rPr>
              <a:t>수 시간 → 수 분 보고서 작성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92994" y="2962656"/>
            <a:ext cx="4083893" cy="402336"/>
          </a:xfrm>
          <a:prstGeom prst="rect">
            <a:avLst/>
          </a:prstGeom>
          <a:solidFill>
            <a:srgbClr val="FCEDC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592994" y="2962656"/>
            <a:ext cx="36576" cy="402336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02722" y="3035808"/>
            <a:ext cx="393758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828"/>
                </a:solidFill>
              </a:rPr>
              <a:t>수작업 엑셀 없이 자동 수집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92994" y="3438144"/>
            <a:ext cx="4083893" cy="402336"/>
          </a:xfrm>
          <a:prstGeom prst="rect">
            <a:avLst/>
          </a:prstGeom>
          <a:solidFill>
            <a:srgbClr val="FCEDC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92994" y="3438144"/>
            <a:ext cx="36576" cy="402336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02722" y="3511296"/>
            <a:ext cx="393758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828"/>
                </a:solidFill>
              </a:rPr>
              <a:t>출처 자동 첨부 (공시일 포함)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92994" y="3913632"/>
            <a:ext cx="4083893" cy="402336"/>
          </a:xfrm>
          <a:prstGeom prst="rect">
            <a:avLst/>
          </a:prstGeom>
          <a:solidFill>
            <a:srgbClr val="FCEDC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592994" y="3913632"/>
            <a:ext cx="36576" cy="402336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02722" y="3986784"/>
            <a:ext cx="393758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828"/>
                </a:solidFill>
              </a:rPr>
              <a:t>다양한 업무에 재사용 가능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64978" y="4389120"/>
            <a:ext cx="433992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64978" y="4389120"/>
            <a:ext cx="43891" cy="548640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92994" y="4443984"/>
            <a:ext cx="415704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55D"/>
                </a:solidFill>
              </a:rPr>
              <a:t>브리티웍스·지능형 업무시스템에
MCP 연결 시 즉시 활용 가능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" y="6172200"/>
            <a:ext cx="11420856" cy="475488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6245352"/>
            <a:ext cx="11055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공개된 데이터  +  AI  =  행정 생산성의 획기적 향상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0292" cy="100584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54864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2A54"/>
                </a:solidFill>
              </a:rPr>
              <a:t>13   활용 사례 ④  브리티웍스 및 지능형 업무시스템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5486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5A5B9"/>
                </a:solidFill>
              </a:rPr>
              <a:t>13  /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21792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F6F89"/>
                </a:solidFill>
              </a:rPr>
              <a:t>OpenAlio MCP는 특정 AI 서비스가 아닌 공공기관 데이터 기반 인프라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42085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3854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BF4"/>
                </a:solidFill>
              </a:rPr>
              <a:t>OpenAlio MCP  ·  재경부 공공정책국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152144"/>
            <a:ext cx="11420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828"/>
                </a:solidFill>
              </a:rPr>
              <a:t>표준화된 MCP 프로토콜로 어떤 AI 시스템에도 연결 가능한 개방형 인터페이스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609344"/>
            <a:ext cx="2649474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3891" cy="841248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682496"/>
            <a:ext cx="246659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789"/>
                </a:solidFill>
              </a:rPr>
              <a:t>브리티웍스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066544"/>
            <a:ext cx="24665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6F89"/>
                </a:solidFill>
              </a:rPr>
              <a:t>공공기관 내부 업무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85925" y="2450592"/>
            <a:ext cx="45720" cy="292608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07842" y="1609344"/>
            <a:ext cx="2649474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07842" y="1609344"/>
            <a:ext cx="43891" cy="841248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5858" y="1682496"/>
            <a:ext cx="246659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73"/>
                </a:solidFill>
              </a:rPr>
              <a:t>지능형 업무시스템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5858" y="2066544"/>
            <a:ext cx="24665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6F89"/>
                </a:solidFill>
              </a:rPr>
              <a:t>행정 AI 플랫폼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9719" y="2450592"/>
            <a:ext cx="45720" cy="292608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1609344"/>
            <a:ext cx="2649474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1609344"/>
            <a:ext cx="43891" cy="841248"/>
          </a:xfrm>
          <a:prstGeom prst="rect">
            <a:avLst/>
          </a:prstGeom>
          <a:solidFill>
            <a:srgbClr val="50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9652" y="1682496"/>
            <a:ext cx="246659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03787"/>
                </a:solidFill>
              </a:rPr>
              <a:t>Claude / ChatGPT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9652" y="2066544"/>
            <a:ext cx="24665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6F89"/>
                </a:solidFill>
              </a:rPr>
              <a:t>범용 AI 어시스턴트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3513" y="2450592"/>
            <a:ext cx="45720" cy="292608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55430" y="1609344"/>
            <a:ext cx="2649474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55430" y="1609344"/>
            <a:ext cx="43891" cy="841248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3446" y="1682496"/>
            <a:ext cx="246659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C3D"/>
                </a:solidFill>
              </a:rPr>
              <a:t>향후 AI 플랫폼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3446" y="2066544"/>
            <a:ext cx="24665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6F89"/>
                </a:solidFill>
              </a:rPr>
              <a:t>미래 공공 AI 서비스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57307" y="2450592"/>
            <a:ext cx="45720" cy="292608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2779776"/>
            <a:ext cx="11420856" cy="868680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" y="2779776"/>
            <a:ext cx="11420856" cy="36576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4048" y="3611880"/>
            <a:ext cx="11420856" cy="36576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2871216"/>
            <a:ext cx="685251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OpenAlio MCP  —  표준 인터페이스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36561" y="2999232"/>
            <a:ext cx="45683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DBF4"/>
                </a:solidFill>
              </a:rPr>
              <a:t>표준화된 MCP 프로토콜 · 어떤 AI든 동일하게 연결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97176" y="3648456"/>
            <a:ext cx="45720" cy="27432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23973" y="3648456"/>
            <a:ext cx="45720" cy="27432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64978" y="3648456"/>
            <a:ext cx="45720" cy="27432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91775" y="3648456"/>
            <a:ext cx="45720" cy="274320"/>
          </a:xfrm>
          <a:prstGeom prst="rect">
            <a:avLst/>
          </a:prstGeom>
          <a:solidFill>
            <a:srgbClr val="95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4048" y="3959352"/>
            <a:ext cx="266319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1A4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4048" y="3959352"/>
            <a:ext cx="2663190" cy="34747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050792"/>
            <a:ext cx="266319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4789"/>
                </a:solidFill>
              </a:rPr>
              <a:t>ALIO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03270" y="3959352"/>
            <a:ext cx="266319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007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03270" y="3959352"/>
            <a:ext cx="2663190" cy="34747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03270" y="4050792"/>
            <a:ext cx="266319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A73"/>
                </a:solidFill>
              </a:rPr>
              <a:t>ALIO PLUS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22492" y="3959352"/>
            <a:ext cx="266319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503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22492" y="3959352"/>
            <a:ext cx="2663190" cy="34747"/>
          </a:xfrm>
          <a:prstGeom prst="rect">
            <a:avLst/>
          </a:prstGeom>
          <a:solidFill>
            <a:srgbClr val="50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22492" y="4050792"/>
            <a:ext cx="266319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03787"/>
                </a:solidFill>
              </a:rPr>
              <a:t>JOB-ALIO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1714" y="3959352"/>
            <a:ext cx="266319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246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41714" y="3959352"/>
            <a:ext cx="2663190" cy="34747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1714" y="4050792"/>
            <a:ext cx="266319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46C3D"/>
                </a:solidFill>
              </a:rPr>
              <a:t>법령·지침·편람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" y="4709160"/>
            <a:ext cx="11420856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84048" y="4709160"/>
            <a:ext cx="43891" cy="1143000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800600"/>
            <a:ext cx="11146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·  표준화된 MCP 프로토콜로 브리티웍스·지능형 업무시스템에 바로 연결 가능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129784"/>
            <a:ext cx="11146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·  새 AI 플랫폼 도입 시에도 OpenAlio MCP는 그대로 재사용  —  인프라 투자 보호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458968"/>
            <a:ext cx="11146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·  데이터 추가(평가결과·국회·조달)도 MCP 서버에만 반영하면 모든 AI에 즉시 적용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0292" cy="100584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54864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2A54"/>
                </a:solidFill>
              </a:rPr>
              <a:t>14   향후 발전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5486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5A5B9"/>
                </a:solidFill>
              </a:rPr>
              <a:t>14  /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21792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F6F89"/>
                </a:solidFill>
              </a:rPr>
              <a:t>단계적 확장을 통해 공공기관 정보공개 체계를 AI 시대에 맞게 고도화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420856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3854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BF4"/>
                </a:solidFill>
              </a:rPr>
              <a:t>OpenAlio MCP  ·  재경부 공공정책국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152144"/>
            <a:ext cx="266319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152144"/>
            <a:ext cx="43891" cy="5074920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243584"/>
            <a:ext cx="248031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789"/>
                </a:solidFill>
              </a:rPr>
              <a:t>대국민 서비스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1664208"/>
            <a:ext cx="2407158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01952"/>
            <a:ext cx="64008" cy="64008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1792224"/>
            <a:ext cx="22242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ALIO 챗봇 구현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68880"/>
            <a:ext cx="64008" cy="64008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359152"/>
            <a:ext cx="22242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기관 비교 서비스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35808"/>
            <a:ext cx="64008" cy="64008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2926080"/>
            <a:ext cx="22242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정책 팩트체크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03270" y="1152144"/>
            <a:ext cx="266319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03270" y="1152144"/>
            <a:ext cx="43891" cy="5074920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1286" y="1243584"/>
            <a:ext cx="248031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73"/>
                </a:solidFill>
              </a:rPr>
              <a:t>내부 업무 지원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31286" y="1664208"/>
            <a:ext cx="2407158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67862" y="1901952"/>
            <a:ext cx="64008" cy="64008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4166" y="1792224"/>
            <a:ext cx="22242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증원심사 지원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67862" y="2468880"/>
            <a:ext cx="64008" cy="64008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4166" y="2359152"/>
            <a:ext cx="22242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기능개혁 지원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67862" y="3035808"/>
            <a:ext cx="64008" cy="64008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4166" y="2926080"/>
            <a:ext cx="22242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경영평가 지원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67862" y="3602736"/>
            <a:ext cx="64008" cy="64008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4166" y="3493008"/>
            <a:ext cx="22242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언론대응 · 기관현황 작성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2492" y="1152144"/>
            <a:ext cx="266319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2492" y="1152144"/>
            <a:ext cx="43891" cy="5074920"/>
          </a:xfrm>
          <a:prstGeom prst="rect">
            <a:avLst/>
          </a:prstGeom>
          <a:solidFill>
            <a:srgbClr val="50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0508" y="1243584"/>
            <a:ext cx="248031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03787"/>
                </a:solidFill>
              </a:rPr>
              <a:t>연구 활용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508" y="1664208"/>
            <a:ext cx="2407158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87084" y="1901952"/>
            <a:ext cx="64008" cy="64008"/>
          </a:xfrm>
          <a:prstGeom prst="rect">
            <a:avLst/>
          </a:prstGeom>
          <a:solidFill>
            <a:srgbClr val="50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3388" y="1792224"/>
            <a:ext cx="22242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공공기관 데이터 분석 플랫폼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7084" y="2468880"/>
            <a:ext cx="64008" cy="64008"/>
          </a:xfrm>
          <a:prstGeom prst="rect">
            <a:avLst/>
          </a:prstGeom>
          <a:solidFill>
            <a:srgbClr val="50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3388" y="2359152"/>
            <a:ext cx="22242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평가결과 데이터 추가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7084" y="3035808"/>
            <a:ext cx="64008" cy="64008"/>
          </a:xfrm>
          <a:prstGeom prst="rect">
            <a:avLst/>
          </a:prstGeom>
          <a:solidFill>
            <a:srgbClr val="50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3388" y="2926080"/>
            <a:ext cx="22242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국회 · 조달 데이터 연계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1714" y="1152144"/>
            <a:ext cx="266319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1714" y="1152144"/>
            <a:ext cx="43891" cy="5074920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69730" y="1243584"/>
            <a:ext cx="248031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7C1C"/>
                </a:solidFill>
              </a:rPr>
              <a:t>인프라 고도화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69730" y="1664208"/>
            <a:ext cx="2407158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06306" y="1901952"/>
            <a:ext cx="64008" cy="64008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52610" y="1792224"/>
            <a:ext cx="22242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HTTP/SSE 서버 전환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06306" y="2468880"/>
            <a:ext cx="64008" cy="64008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52610" y="2359152"/>
            <a:ext cx="22242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인증 · 속도 제한 적용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06306" y="3035808"/>
            <a:ext cx="64008" cy="64008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52610" y="2926080"/>
            <a:ext cx="22242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자동 업데이트 파이프라인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06306" y="3602736"/>
            <a:ext cx="64008" cy="64008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52610" y="3493008"/>
            <a:ext cx="22242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55D"/>
                </a:solidFill>
              </a:rPr>
              <a:t>보안 심의 대응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" y="6364224"/>
            <a:ext cx="11420856" cy="457200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" y="6419088"/>
            <a:ext cx="262661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BF4"/>
                </a:solidFill>
              </a:rPr>
              <a:t>Phase 1  ✓  완료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67862" y="6419088"/>
            <a:ext cx="262661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7C1C"/>
                </a:solidFill>
              </a:rPr>
              <a:t>Phase 2  ●  현재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4476" y="6419088"/>
            <a:ext cx="262661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BF4"/>
                </a:solidFill>
              </a:rPr>
              <a:t>Phase 3  ○  계획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21090" y="6419088"/>
            <a:ext cx="262661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BF4"/>
                </a:solidFill>
              </a:rPr>
              <a:t>Phase 4  ○  장기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C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92240" y="0"/>
            <a:ext cx="5696712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66560" y="457200"/>
            <a:ext cx="5056632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0" y="1371600"/>
            <a:ext cx="5056632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2286000"/>
            <a:ext cx="5056632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0" y="457200"/>
            <a:ext cx="9144" cy="5943600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0" y="457200"/>
            <a:ext cx="201168" cy="201168"/>
          </a:xfrm>
          <a:prstGeom prst="rect">
            <a:avLst/>
          </a:prstGeom>
          <a:solidFill>
            <a:srgbClr val="CCD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6492240" cy="50292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029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E8E6"/>
                </a:solidFill>
              </a:rPr>
              <a:t>마무리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960120"/>
            <a:ext cx="5577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정보공개의
다음 단계는
정보 활용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34640"/>
            <a:ext cx="3657600" cy="45720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992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BF4"/>
                </a:solidFill>
              </a:rPr>
              <a:t>OpenAlio MCP는 공공기관 정보공개 체계를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6499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BF4"/>
                </a:solidFill>
              </a:rPr>
              <a:t>AI 시대에 맞게 확장하기 위한 실험입니다.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3075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BF4"/>
                </a:solidFill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965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BF4"/>
                </a:solidFill>
              </a:rPr>
              <a:t>국민과 행정이 공공기관 정보를 더 쉽고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6227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BF4"/>
                </a:solidFill>
              </a:rPr>
              <a:t>효과적으로 활용할 수 있도록 지원합니다.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074920"/>
            <a:ext cx="16916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074920"/>
            <a:ext cx="1691640" cy="36576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18464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개방성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66928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BF4"/>
                </a:solidFill>
              </a:rPr>
              <a:t>오픈소스 · 누구나 기여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5074920"/>
            <a:ext cx="16916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4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31720" y="5074920"/>
            <a:ext cx="1691640" cy="36576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3160" y="518464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연결성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566928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BF4"/>
                </a:solidFill>
              </a:rPr>
              <a:t>AI-데이터 표준 연결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5074920"/>
            <a:ext cx="16916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F7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60520" y="5074920"/>
            <a:ext cx="1691640" cy="36576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18464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활용성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566928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BF4"/>
                </a:solidFill>
              </a:rPr>
              <a:t>질문 한 번 · 즉시 분석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00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BF7C1C"/>
                </a:solidFill>
              </a:rPr>
              <a:t>감사합니다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1371600"/>
            <a:ext cx="45720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23760" y="1371600"/>
            <a:ext cx="43891" cy="3657600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51776" y="1463040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73"/>
                </a:solidFill>
              </a:rPr>
              <a:t>핵심 요약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51775" y="1865376"/>
            <a:ext cx="4315968" cy="9144"/>
          </a:xfrm>
          <a:prstGeom prst="rect">
            <a:avLst/>
          </a:prstGeom>
          <a:solidFill>
            <a:srgbClr val="BD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51775" y="1993392"/>
            <a:ext cx="43159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51775" y="1993392"/>
            <a:ext cx="36576" cy="475488"/>
          </a:xfrm>
          <a:prstGeom prst="rect">
            <a:avLst/>
          </a:prstGeom>
          <a:solidFill>
            <a:srgbClr val="1A4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16368" y="20482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4789"/>
                </a:solidFill>
              </a:rPr>
              <a:t>공공기관 데이터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355개 기관 · 11메트릭 · 6년치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51775" y="2523744"/>
            <a:ext cx="43159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51775" y="2523744"/>
            <a:ext cx="36576" cy="475488"/>
          </a:xfrm>
          <a:prstGeom prst="rect">
            <a:avLst/>
          </a:prstGeom>
          <a:solidFill>
            <a:srgbClr val="007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16368" y="25786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73"/>
                </a:solidFill>
              </a:rPr>
              <a:t>AI 도구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26334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32개 도구 · 2 프롬프트 · 5 리소스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51775" y="3054096"/>
            <a:ext cx="43159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51775" y="3054096"/>
            <a:ext cx="36576" cy="475488"/>
          </a:xfrm>
          <a:prstGeom prst="rect">
            <a:avLst/>
          </a:prstGeom>
          <a:solidFill>
            <a:srgbClr val="50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16368" y="3108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03787"/>
                </a:solidFill>
              </a:rPr>
              <a:t>연결 방식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316382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MCP 표준 프로토콜 (개방형)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51775" y="3584448"/>
            <a:ext cx="43159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1775" y="3584448"/>
            <a:ext cx="36576" cy="475488"/>
          </a:xfrm>
          <a:prstGeom prst="rect">
            <a:avLst/>
          </a:prstGeom>
          <a:solidFill>
            <a:srgbClr val="BF7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16368" y="36393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7C1C"/>
                </a:solidFill>
              </a:rPr>
              <a:t>활용 대상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36941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국민 · 공무원 · 연구자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51775" y="4114800"/>
            <a:ext cx="43159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51775" y="4114800"/>
            <a:ext cx="36576" cy="475488"/>
          </a:xfrm>
          <a:prstGeom prst="rect">
            <a:avLst/>
          </a:prstGeom>
          <a:solidFill>
            <a:srgbClr val="24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16368" y="41696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46C3D"/>
                </a:solidFill>
              </a:rPr>
              <a:t>현재 상태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42245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Phase 2 — 로컬 MCP 서버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51775" y="4645152"/>
            <a:ext cx="43159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51775" y="4645152"/>
            <a:ext cx="36576" cy="475488"/>
          </a:xfrm>
          <a:prstGeom prst="rect">
            <a:avLst/>
          </a:prstGeom>
          <a:solidFill>
            <a:srgbClr val="B34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16368" y="47000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34728"/>
                </a:solidFill>
              </a:rPr>
              <a:t>다음 단계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47548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F89"/>
                </a:solidFill>
              </a:rPr>
              <a:t>Phase 4 — HTTP 서버 · 인증 · 자동화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