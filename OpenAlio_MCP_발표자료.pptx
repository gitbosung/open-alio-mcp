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715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7150" y="0"/>
            <a:ext cx="4631801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14780" y="-182880"/>
            <a:ext cx="2560320" cy="25603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65104" y="2286000"/>
            <a:ext cx="1828800" cy="18288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2687" y="4617720"/>
            <a:ext cx="1371600" cy="1371600"/>
          </a:xfrm>
          <a:prstGeom prst="rect">
            <a:avLst/>
          </a:prstGeom>
          <a:solidFill>
            <a:srgbClr val="C5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557150" cy="9144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548640" cy="256032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280160"/>
            <a:ext cx="73152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28016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OpenAlio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432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5CAFF"/>
                </a:solidFill>
              </a:rPr>
              <a:t>공공기관 정보공개의 AI 활용성 제고를 위한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8D4"/>
                </a:solidFill>
              </a:rPr>
              <a:t>MCP 기반 실험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3794760"/>
            <a:ext cx="3200400" cy="54864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041648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김보성 사무관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526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5CAFF"/>
                </a:solidFill>
              </a:rPr>
              <a:t>재경부 공공정책국    |    2026. 06.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6597" y="1828800"/>
            <a:ext cx="3200400" cy="4572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6597" y="1854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38F"/>
                </a:solidFill>
              </a:rPr>
              <a:t>🔗 연결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66597" y="2487168"/>
            <a:ext cx="3200400" cy="457200"/>
          </a:xfrm>
          <a:prstGeom prst="rect">
            <a:avLst/>
          </a:prstGeom>
          <a:solidFill>
            <a:srgbClr val="C5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6597" y="25125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237E"/>
                </a:solidFill>
              </a:rPr>
              <a:t>🤖 AI 활용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66597" y="3145536"/>
            <a:ext cx="3200400" cy="457200"/>
          </a:xfrm>
          <a:prstGeom prst="rect">
            <a:avLst/>
          </a:prstGeom>
          <a:solidFill>
            <a:srgbClr val="B9F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6597" y="317093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692E"/>
                </a:solidFill>
              </a:rPr>
              <a:t>📊 공공데이터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01   공공기관 정보공개의 성공, ALIO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ALIO는 공공기관 투명성 제고를 위한 대표적인 성공 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417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37E"/>
                </a:solidFill>
              </a:rPr>
              <a:t>ALIO의 핵심 성과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65960"/>
            <a:ext cx="4937760" cy="914400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5740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8" y="20391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</a:rPr>
              <a:t>대국민 공개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23500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355개 공공기관 경영정보
투명하게 공개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90088"/>
            <a:ext cx="4937760" cy="914400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081528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7008" y="3063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</a:rPr>
              <a:t>알권리 확대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3374136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국민 누구나 무료로
정보 열람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14216"/>
            <a:ext cx="4937760" cy="914400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105656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⚖️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8" y="408736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</a:rPr>
              <a:t>책임성 강화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8" y="4398264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재무·인사·경영평가
공시 의무화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038344"/>
            <a:ext cx="4937760" cy="914400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129784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7008" y="51114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</a:rPr>
              <a:t>서비스 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7008" y="54223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ALIO PLUS, JOB-ALIO 등
지속적 서비스 확장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89788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897880" cy="54864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838F"/>
                </a:solidFill>
              </a:rPr>
              <a:t>서비스 발전 연혁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1965960"/>
            <a:ext cx="822960" cy="82296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214884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2286000"/>
            <a:ext cx="45720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35240" y="201168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5AFE"/>
                </a:solidFill>
              </a:rPr>
              <a:t>ALIO 출범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236829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공공기관 경영정보 최초 온라인 공개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10528" y="2788920"/>
            <a:ext cx="54864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3017520"/>
            <a:ext cx="822960" cy="82296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320040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3337560"/>
            <a:ext cx="457200" cy="54864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35240" y="306324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8D4"/>
                </a:solidFill>
              </a:rPr>
              <a:t>ALIO PLUS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341985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채용·시설·사업 등 생활밀착 정보 통합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10528" y="3840480"/>
            <a:ext cx="54864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0" y="4069080"/>
            <a:ext cx="822960" cy="82296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0" y="42519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2019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86600" y="4389120"/>
            <a:ext cx="45720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35240" y="411480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D00"/>
                </a:solidFill>
              </a:rPr>
              <a:t>JOB-ALIO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35240" y="447141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공공기관 채용 전문 플랫폼 분리 출범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10528" y="4892040"/>
            <a:ext cx="54864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26480" y="5120640"/>
            <a:ext cx="822960" cy="82296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53035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2026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440680"/>
            <a:ext cx="45720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35240" y="5166360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</a:rPr>
              <a:t>OpenAlio MCP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552297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AI 활용 가능 개방형 인터페이스 실험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02   그러나 AI 시대의 새로운 과제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정보 공개는 성공했지만 정보 활용은 여전히 어렵다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2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417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D00"/>
                </a:solidFill>
              </a:rPr>
              <a:t>공공기관 정보, 어디에 흩어져 있나?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20240"/>
            <a:ext cx="4937760" cy="621792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1920240"/>
            <a:ext cx="109728" cy="621792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9751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5AFE"/>
                </a:solidFill>
              </a:rPr>
              <a:t>ALIO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0756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경영공시 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4937760" cy="621792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633472"/>
            <a:ext cx="109728" cy="62179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26883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38F"/>
                </a:solidFill>
              </a:rPr>
              <a:t>ALIO PLUS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2788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채용·시설·사업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46704"/>
            <a:ext cx="4937760" cy="621792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346704"/>
            <a:ext cx="109728" cy="62179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4015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JOB-ALIO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3502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채용 공고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059936"/>
            <a:ext cx="4937760" cy="621792"/>
          </a:xfrm>
          <a:prstGeom prst="rect">
            <a:avLst/>
          </a:prstGeom>
          <a:solidFill>
            <a:srgbClr val="EAE1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4059936"/>
            <a:ext cx="109728" cy="621792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4114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4DFF"/>
                </a:solidFill>
              </a:rPr>
              <a:t>기관 홈페이지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42153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기관별 자체 정보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73168"/>
            <a:ext cx="4937760" cy="621792"/>
          </a:xfrm>
          <a:prstGeom prst="rect">
            <a:avLst/>
          </a:prstGeom>
          <a:solidFill>
            <a:srgbClr val="B9F6CA"/>
          </a:solidFill>
          <a:ln w="9525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773168"/>
            <a:ext cx="109728" cy="621792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4828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53"/>
                </a:solidFill>
              </a:rPr>
              <a:t>법령 / 지침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06040" y="492861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법적 근거·지침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486400"/>
            <a:ext cx="4937760" cy="621792"/>
          </a:xfrm>
          <a:prstGeom prst="rect">
            <a:avLst/>
          </a:prstGeom>
          <a:solidFill>
            <a:srgbClr val="FFF3CD"/>
          </a:solidFill>
          <a:ln w="9525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486400"/>
            <a:ext cx="109728" cy="621792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55412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</a:rPr>
              <a:t>뉴스 / 보도자료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564184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실시간 이슈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1234440"/>
            <a:ext cx="589788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89788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7E"/>
                </a:solidFill>
              </a:rPr>
              <a:t>AI가 활용하기 어려운 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1920240"/>
            <a:ext cx="5577840" cy="1024128"/>
          </a:xfrm>
          <a:prstGeom prst="rect">
            <a:avLst/>
          </a:prstGeom>
          <a:solidFill>
            <a:srgbClr val="F7F9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21031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A1A2E"/>
                </a:solidFill>
              </a:rPr>
              <a:t>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0116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D5AFE"/>
                </a:solidFill>
              </a:rPr>
              <a:t>분  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2377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정보가 여러 사이트에 나뉘어 있어
통합 조회 불가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3063240"/>
            <a:ext cx="5577840" cy="1024128"/>
          </a:xfrm>
          <a:prstGeom prst="rect">
            <a:avLst/>
          </a:prstGeom>
          <a:solidFill>
            <a:srgbClr val="F7F9FF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32461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A1A2E"/>
                </a:solidFill>
              </a:rPr>
              <a:t>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31546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D00"/>
                </a:solidFill>
              </a:rPr>
              <a:t>비구조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3520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PDF·엑셀·웹페이지 혼재로
AI 파싱 어려움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4206240"/>
            <a:ext cx="5577840" cy="1024128"/>
          </a:xfrm>
          <a:prstGeom prst="rect">
            <a:avLst/>
          </a:prstGeom>
          <a:solidFill>
            <a:srgbClr val="F7F9FF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43891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A1A2E"/>
                </a:solidFill>
              </a:rPr>
              <a:t>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12280" y="42976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38F"/>
                </a:solidFill>
              </a:rPr>
              <a:t>비연결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4663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기관 간 연계 없어
비교·분석 불가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5349240"/>
            <a:ext cx="5577840" cy="1024128"/>
          </a:xfrm>
          <a:prstGeom prst="rect">
            <a:avLst/>
          </a:prstGeom>
          <a:solidFill>
            <a:srgbClr val="F7F9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5532120"/>
            <a:ext cx="502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A1A2E"/>
                </a:solidFill>
              </a:rPr>
              <a:t>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544068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</a:rPr>
              <a:t>저기계가독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12280" y="580644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표준화된 API 없어
AI 직접 활용 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0" y="598932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F6D00"/>
                </a:solidFill>
              </a:rPr>
              <a:t>정보는 공개됐지만, AI는 아직 '읽지 못한다'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03   국민 입장에서의 Pain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정보는 공개되어 있으나 '질문하기' 어렵다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3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11548872" cy="6858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31673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💬   "한국전력의 최근 5년 부채 추이는?"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057400"/>
            <a:ext cx="5394960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057400"/>
            <a:ext cx="539496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3113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D00"/>
                </a:solidFill>
              </a:rPr>
              <a:t>Before  ·  현재 절차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24912"/>
            <a:ext cx="5029200" cy="4572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78892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ALIO 접속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80944" y="3182112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383280"/>
            <a:ext cx="5029200" cy="4572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4728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기관 검색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80944" y="3840480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041648"/>
            <a:ext cx="5029200" cy="4572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10565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105656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재무현황 이동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80944" y="4498848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700016"/>
            <a:ext cx="5029200" cy="4572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764024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76402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자료 다운로드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80944" y="5157216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358384"/>
            <a:ext cx="5029200" cy="4572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422392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422392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직접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0350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F6D00"/>
                </a:solidFill>
              </a:rPr>
              <a:t>⏱  수십 분 ~ 수 시간 소요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057400"/>
            <a:ext cx="5760720" cy="440740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057400"/>
            <a:ext cx="5760720" cy="54864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231136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38F"/>
                </a:solidFill>
              </a:rPr>
              <a:t>After  ·  OpenAlio MCP 활용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2724912"/>
            <a:ext cx="5394960" cy="822960"/>
          </a:xfrm>
          <a:prstGeom prst="rect">
            <a:avLst/>
          </a:prstGeom>
          <a:solidFill>
            <a:srgbClr val="B2EBF2"/>
          </a:solidFill>
          <a:ln w="6350">
            <a:solidFill>
              <a:srgbClr val="00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28620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2798064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38F"/>
                </a:solidFill>
              </a:rPr>
              <a:t>질문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16382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자연어로 자유롭게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24544" y="3547872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3749040"/>
            <a:ext cx="5394960" cy="822960"/>
          </a:xfrm>
          <a:prstGeom prst="rect">
            <a:avLst/>
          </a:prstGeom>
          <a:solidFill>
            <a:srgbClr val="B2EBF2"/>
          </a:solidFill>
          <a:ln w="6350">
            <a:solidFill>
              <a:srgbClr val="00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88620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382219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38F"/>
                </a:solidFill>
              </a:rPr>
              <a:t>AI + MCP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18795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32개 도구 자동 선택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24544" y="4572000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773168"/>
            <a:ext cx="5394960" cy="822960"/>
          </a:xfrm>
          <a:prstGeom prst="rect">
            <a:avLst/>
          </a:prstGeom>
          <a:solidFill>
            <a:srgbClr val="B2EBF2"/>
          </a:solidFill>
          <a:ln w="6350">
            <a:solidFill>
              <a:srgbClr val="00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1032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📊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48463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38F"/>
                </a:solidFill>
              </a:rPr>
              <a:t>즉시 결과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9440" y="52120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표·그래프·출처 포함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989320"/>
            <a:ext cx="3200400" cy="347472"/>
          </a:xfrm>
          <a:prstGeom prst="rect">
            <a:avLst/>
          </a:prstGeom>
          <a:solidFill>
            <a:srgbClr val="B9F6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60147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92E"/>
                </a:solidFill>
              </a:rPr>
              <a:t>⚡  수 초 이내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04   공공기관 실무자 입장에서의 Pain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벤치마킹과 업무학습 비용이 높다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4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379476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379476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4630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1A1A2E"/>
                </a:solidFill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D5AFE"/>
                </a:solidFill>
              </a:rPr>
              <a:t>유사기관 운영사례 탐색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24912"/>
            <a:ext cx="2743200" cy="457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52928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동종 기관 운영사례를 여러 사이트에서
수작업으로 수집해야 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937760"/>
            <a:ext cx="3383280" cy="804672"/>
          </a:xfrm>
          <a:prstGeom prst="rect">
            <a:avLst/>
          </a:prstGeom>
          <a:solidFill>
            <a:srgbClr val="C5CAFF"/>
          </a:solidFill>
          <a:ln w="6350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5001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D5AFE"/>
                </a:solidFill>
              </a:rPr>
              <a:t>→  MCP 활용 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2760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AI에게 물어보면 즉시 정리된
벤치마킹 결과 제공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1234440"/>
            <a:ext cx="379476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1234440"/>
            <a:ext cx="3794760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14630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1A1A2E"/>
                </a:solidFill>
              </a:rPr>
              <a:t>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38F"/>
                </a:solidFill>
              </a:rPr>
              <a:t>경영평가 대응사례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44568" y="2724912"/>
            <a:ext cx="2743200" cy="457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4568" y="2852928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지적사항·우수사례 PDF를 연도별로
일일이 찾아서 검토해야 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44568" y="4937760"/>
            <a:ext cx="3383280" cy="804672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54296" y="5001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38F"/>
                </a:solidFill>
              </a:rPr>
              <a:t>→  MCP 활용 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4296" y="52760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편람 키워드 검색 + 연도별
지적 패턴 즉시 분석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03336" y="1234440"/>
            <a:ext cx="379476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3336" y="1234440"/>
            <a:ext cx="379476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86216" y="146304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0">
                <a:solidFill>
                  <a:srgbClr val="1A1A2E"/>
                </a:solidFill>
              </a:rPr>
              <a:t>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86216" y="22402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D00"/>
                </a:solidFill>
              </a:rPr>
              <a:t>신규 담당자 업무학습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86216" y="2724912"/>
            <a:ext cx="2743200" cy="4572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86216" y="2852928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법령·지침·편람이 분산돼
온보딩 비용 과다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86216" y="4937760"/>
            <a:ext cx="3383280" cy="804672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95944" y="50017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6D00"/>
                </a:solidFill>
              </a:rPr>
              <a:t>→  MCP 활용 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95944" y="52760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법령·지침 통합 검색으로
온보딩 시간 대폭 단축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199632"/>
            <a:ext cx="11548872" cy="384048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OpenAlio MCP가 3가지 Pain Point를 단번에 해결합니다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05   재경부·주무부처 공무원 입장에서의 Pain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공개된 데이터를 활용하는 데 막대한 행정비용이 발생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5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3749039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3749039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</a:rPr>
              <a:t>주요 업무 유형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920240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00253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⚙️ 기능개혁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1920240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48840" y="200253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👥 증원심사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609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🏆 경영평가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2578608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48840" y="26609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🔀 기관통합검토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36976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31927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📰 보도대응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3236976"/>
            <a:ext cx="1463040" cy="530352"/>
          </a:xfrm>
          <a:prstGeom prst="rect">
            <a:avLst/>
          </a:prstGeom>
          <a:solidFill>
            <a:srgbClr val="EAE1FF"/>
          </a:solidFill>
          <a:ln w="63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48840" y="331927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✅ 팩트체크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1234440"/>
            <a:ext cx="7498079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43400" y="1234440"/>
            <a:ext cx="7498079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14173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D00"/>
                </a:solidFill>
              </a:rPr>
              <a:t>실제 업무 흐름 (현재)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1920240"/>
            <a:ext cx="7132320" cy="457200"/>
          </a:xfrm>
          <a:prstGeom prst="rect">
            <a:avLst/>
          </a:prstGeom>
          <a:solidFill>
            <a:srgbClr val="C5CAFF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199339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기관별 정원·재무·사업 정보 필요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55864" y="2377440"/>
            <a:ext cx="73152" cy="146304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26280" y="2542032"/>
            <a:ext cx="7132320" cy="457200"/>
          </a:xfrm>
          <a:prstGeom prst="rect">
            <a:avLst/>
          </a:prstGeom>
          <a:solidFill>
            <a:srgbClr val="FFE0CC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2615184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ALIO 접속 → 항목별 클릭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55864" y="2999232"/>
            <a:ext cx="73152" cy="146304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26280" y="3163824"/>
            <a:ext cx="7132320" cy="457200"/>
          </a:xfrm>
          <a:prstGeom prst="rect">
            <a:avLst/>
          </a:prstGeom>
          <a:solidFill>
            <a:srgbClr val="FFE0CC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7720" y="3236976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엑셀 파일 수십 개 다운로드  ⚠️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55864" y="3621024"/>
            <a:ext cx="73152" cy="146304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26280" y="3785616"/>
            <a:ext cx="7132320" cy="457200"/>
          </a:xfrm>
          <a:prstGeom prst="rect">
            <a:avLst/>
          </a:prstGeom>
          <a:solidFill>
            <a:srgbClr val="FFE0CC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3858768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수작업 정리·가공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55864" y="4242816"/>
            <a:ext cx="73152" cy="146304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26280" y="4407408"/>
            <a:ext cx="7132320" cy="457200"/>
          </a:xfrm>
          <a:prstGeom prst="rect">
            <a:avLst/>
          </a:prstGeom>
          <a:solidFill>
            <a:srgbClr val="C5CAFF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7720" y="4480560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분석 수행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55864" y="4864608"/>
            <a:ext cx="73152" cy="146304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26280" y="5029200"/>
            <a:ext cx="7132320" cy="457200"/>
          </a:xfrm>
          <a:prstGeom prst="rect">
            <a:avLst/>
          </a:prstGeom>
          <a:solidFill>
            <a:srgbClr val="C5CAFF"/>
          </a:solidFill>
          <a:ln w="3810">
            <a:solidFill>
              <a:srgbClr val="9E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17720" y="510235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보고서 작성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6016752"/>
            <a:ext cx="7132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6D00"/>
                </a:solidFill>
              </a:rPr>
              <a:t>⚠  기관 1개당 수십 개 파일  ×  355개 기관 = 막대한 행정비용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06   연구자 입장에서의 Pain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데이터보다 데이터 준비에 더 많은 시간이 소요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6  / 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29844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</a:rPr>
              <a:t>연구 시간의 대부분이 데이터 준비에 소요됩니다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20240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2697480" cy="73152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084831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1A2E"/>
                </a:solidFill>
              </a:rPr>
              <a:t>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8803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D5AFE"/>
                </a:solidFill>
              </a:rPr>
              <a:t>수  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3383280"/>
            <a:ext cx="1051560" cy="457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5670"/>
                </a:solidFill>
              </a:rPr>
              <a:t>ALIO·기관 홈페이지
수작업 다운로드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3200400"/>
            <a:ext cx="365760" cy="7315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0" y="1920240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0" y="1920240"/>
            <a:ext cx="2697480" cy="7315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2084831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1A2E"/>
                </a:solidFill>
              </a:rPr>
              <a:t>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803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6D00"/>
                </a:solidFill>
              </a:rPr>
              <a:t>정  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51560" cy="4572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352044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5670"/>
                </a:solidFill>
              </a:rPr>
              <a:t>이상값·결측값
수동 처리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200400"/>
            <a:ext cx="365760" cy="7315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37960" y="1920240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37960" y="1920240"/>
            <a:ext cx="2697480" cy="7315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84831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1A2E"/>
                </a:solidFill>
              </a:rPr>
              <a:t>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8803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38F"/>
                </a:solidFill>
              </a:rPr>
              <a:t>통  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60920" y="3383280"/>
            <a:ext cx="1051560" cy="457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352044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5670"/>
                </a:solidFill>
              </a:rPr>
              <a:t>기관 코드 통일
형식 표준화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35440" y="3200400"/>
            <a:ext cx="365760" cy="7315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01200" y="1920240"/>
            <a:ext cx="26974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920240"/>
            <a:ext cx="2697480" cy="73152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2084831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1A2E"/>
                </a:solidFill>
              </a:rPr>
              <a:t>⚙️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2880360"/>
            <a:ext cx="2697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7C4DFF"/>
                </a:solidFill>
              </a:rPr>
              <a:t>전처리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424160" y="3383280"/>
            <a:ext cx="105156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3520440"/>
            <a:ext cx="2514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5670"/>
                </a:solidFill>
              </a:rPr>
              <a:t>분석 가능한
형태로 변환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029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05670"/>
                </a:solidFill>
              </a:rPr>
              <a:t>⟳  위 과정을 매 연구마다, 연구자마다 반복 수행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623560"/>
            <a:ext cx="11548872" cy="749808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68756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OpenAlio MCP 활용 시  →  355개 기관 × 11개 메트릭 × 6년치 데이터를 즉시 제공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183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5CAFF"/>
                </a:solidFill>
              </a:rPr>
              <a:t>출처·공시일·단위까지 자동 첨부 — 데이터 준비 시간 90% 단축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07   그래서 OpenAlio MCP를 개발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공공기관 정보를 AI가 활용할 수 있도록 연결하는 개방형 인터페이스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7  / 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12984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670"/>
                </a:solidFill>
              </a:rPr>
              <a:t>[ 데이터 소스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719072"/>
            <a:ext cx="1691640" cy="548640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D5AFE"/>
                </a:solidFill>
              </a:rPr>
              <a:t>ALIO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30552" y="1719072"/>
            <a:ext cx="1691640" cy="548640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0552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38F"/>
                </a:solidFill>
              </a:rPr>
              <a:t>ALIO PLUS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41064" y="1719072"/>
            <a:ext cx="1691640" cy="548640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41064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D00"/>
                </a:solidFill>
              </a:rPr>
              <a:t>JOB-ALIO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51576" y="1719072"/>
            <a:ext cx="1691640" cy="548640"/>
          </a:xfrm>
          <a:prstGeom prst="rect">
            <a:avLst/>
          </a:prstGeom>
          <a:solidFill>
            <a:srgbClr val="EAE1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1576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법령·지침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62088" y="1719072"/>
            <a:ext cx="1691640" cy="548640"/>
          </a:xfrm>
          <a:prstGeom prst="rect">
            <a:avLst/>
          </a:prstGeom>
          <a:solidFill>
            <a:srgbClr val="B9F6CA"/>
          </a:solidFill>
          <a:ln w="9525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2088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C853"/>
                </a:solidFill>
              </a:rPr>
              <a:t>편람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1719072"/>
            <a:ext cx="1691640" cy="548640"/>
          </a:xfrm>
          <a:prstGeom prst="rect">
            <a:avLst/>
          </a:prstGeom>
          <a:solidFill>
            <a:srgbClr val="FFF3CD"/>
          </a:solidFill>
          <a:ln w="9525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737360"/>
            <a:ext cx="1691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F00"/>
                </a:solidFill>
              </a:rPr>
              <a:t>뉴스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480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6880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155680" y="2267712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71600" y="2587752"/>
            <a:ext cx="9326880" cy="12344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0" y="2587752"/>
            <a:ext cx="9326880" cy="73152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2679192"/>
            <a:ext cx="9326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OpenAlio 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24612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5CAFF"/>
                </a:solidFill>
              </a:rPr>
              <a:t>32개 도구  ·  2개 프롬프트  ·  5개 리소스  ·  355개 기관  ·  11개 메트릭  ·  6년치 데이터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822191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0" y="3822191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0" y="3822191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01200" y="3822191"/>
            <a:ext cx="54864" cy="320040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0" y="4133087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670"/>
                </a:solidFill>
              </a:rPr>
              <a:t>[ 활용 대상 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4498848"/>
            <a:ext cx="2194560" cy="1371600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0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👨‍👩‍👧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230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5AFE"/>
                </a:solidFill>
              </a:rPr>
              <a:t>국민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56509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정보 조회·질문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30752" y="4498848"/>
            <a:ext cx="2194560" cy="1371600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30752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230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38F"/>
                </a:solidFill>
              </a:rPr>
              <a:t>공공기관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30752" y="56509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벤치마킹·학습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9904" y="4498848"/>
            <a:ext cx="2194560" cy="1371600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9904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9904" y="5230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공무원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89904" y="56509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업무 자동화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49056" y="4498848"/>
            <a:ext cx="2194560" cy="1371600"/>
          </a:xfrm>
          <a:prstGeom prst="rect">
            <a:avLst/>
          </a:prstGeom>
          <a:solidFill>
            <a:srgbClr val="EAE1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49056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9056" y="5230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4DFF"/>
                </a:solidFill>
              </a:rPr>
              <a:t>연구자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49056" y="56509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데이터 분석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6199632"/>
            <a:ext cx="11548872" cy="38404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</a:rPr>
              <a:t>공공기관 정보를 AI가 활용 가능한 형태로 연결하는 개방형 인터페이스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08   MCP란 무엇인가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MCP = Model Context Protocol  ·  AI 시대의 USB-C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8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4173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D00"/>
                </a:solidFill>
              </a:rPr>
              <a:t>USB-C 비유로 이해하기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9019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05670"/>
                </a:solidFill>
              </a:rPr>
              <a:t>Before  ·  기기마다 다른 충전기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331720"/>
            <a:ext cx="1005840" cy="41148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5000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D00"/>
                </a:solidFill>
              </a:rPr>
              <a:t>스마트폰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2468880"/>
            <a:ext cx="228600" cy="7315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2331720"/>
            <a:ext cx="164592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37360" y="2331720"/>
            <a:ext cx="1005840" cy="41148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235000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D00"/>
                </a:solidFill>
              </a:rPr>
              <a:t>태블릿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2468880"/>
            <a:ext cx="228600" cy="7315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71800" y="2331720"/>
            <a:ext cx="164592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26080" y="2331720"/>
            <a:ext cx="1005840" cy="41148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35000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D00"/>
                </a:solidFill>
              </a:rPr>
              <a:t>노트북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2468880"/>
            <a:ext cx="228600" cy="7315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2331720"/>
            <a:ext cx="164592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14800" y="2331720"/>
            <a:ext cx="1005840" cy="41148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235000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6D00"/>
                </a:solidFill>
              </a:rPr>
              <a:t>카메라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2468880"/>
            <a:ext cx="228600" cy="73152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49240" y="2331720"/>
            <a:ext cx="164592" cy="41148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99923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38F"/>
                </a:solidFill>
              </a:rPr>
              <a:t>After  ·  USB-C 하나로 통일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29000"/>
            <a:ext cx="1005840" cy="411480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4472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838F"/>
                </a:solidFill>
              </a:rPr>
              <a:t>스마트폰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128" y="3840480"/>
            <a:ext cx="54864" cy="25603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37360" y="3429000"/>
            <a:ext cx="1005840" cy="411480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34472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838F"/>
                </a:solidFill>
              </a:rPr>
              <a:t>태블릿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12848" y="3840480"/>
            <a:ext cx="54864" cy="25603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926080" y="3429000"/>
            <a:ext cx="1005840" cy="411480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0" y="34472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838F"/>
                </a:solidFill>
              </a:rPr>
              <a:t>노트북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01568" y="3840480"/>
            <a:ext cx="54864" cy="25603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0" y="3429000"/>
            <a:ext cx="1005840" cy="411480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344728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838F"/>
                </a:solidFill>
              </a:rPr>
              <a:t>카메라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90288" y="3840480"/>
            <a:ext cx="54864" cy="256032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4096512"/>
            <a:ext cx="4754880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26080" y="4151376"/>
            <a:ext cx="54864" cy="2743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06040" y="4425696"/>
            <a:ext cx="685800" cy="384048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06040" y="444398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USB-C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1234440"/>
            <a:ext cx="580644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35040" y="1234440"/>
            <a:ext cx="580644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37E"/>
                </a:solidFill>
              </a:rPr>
              <a:t>MCP = Model Context Protocol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192024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</a:rPr>
              <a:t>AI 모델이 다양한 외부 데이터·도구와
표준화된 방식으로 연결하는 프로토콜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2743200"/>
            <a:ext cx="5394960" cy="621792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28346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03720" y="2807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</a:rPr>
              <a:t>표준화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83879" y="28986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어떤 AI든 동일한 방식으로 연결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3474720"/>
            <a:ext cx="5394960" cy="621792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356616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03720" y="353872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</a:rPr>
              <a:t>안전성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83879" y="363016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입력 검증·응답 크기 제한 내장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4206240"/>
            <a:ext cx="5394960" cy="621792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429768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📦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42702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</a:rPr>
              <a:t>모듈성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83879" y="43616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도구 단위로 독립 추가·제거 가능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937760"/>
            <a:ext cx="5394960" cy="621792"/>
          </a:xfrm>
          <a:prstGeom prst="rect">
            <a:avLst/>
          </a:prstGeom>
          <a:solidFill>
            <a:srgbClr val="F7F9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50292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3720" y="500176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</a:rPr>
              <a:t>확장성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83879" y="5093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670"/>
                </a:solidFill>
              </a:rPr>
              <a:t>새 데이터소스 연결 용이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5833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3D5AFE"/>
                </a:solidFill>
              </a:rPr>
              <a:t>Claude / ChatGPT / Cursor / 브리티웍스 · · 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09   OpenAlio MCP는 어떻게 동작하는가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질문 한 번으로 공공기관 데이터 분석·보고서까지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9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08476" y="1298448"/>
            <a:ext cx="4572000" cy="5486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9916" y="134924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💬  사용자 질문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7900" y="1847088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08476" y="2048256"/>
            <a:ext cx="4572000" cy="5486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9916" y="2099056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🤖  AI  (Claude / ChatGPT 등)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7900" y="2596896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08476" y="2798064"/>
            <a:ext cx="4572000" cy="54864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9916" y="2848864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⚙️  OpenAlio MCP  (32개 도구)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57900" y="3346704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08476" y="3547872"/>
            <a:ext cx="4572000" cy="54864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9916" y="3598672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🗄  ALIO · ALIO PLUS · 법령 · 뉴스 조회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57900" y="4096512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808476" y="4297680"/>
            <a:ext cx="4572000" cy="54864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9916" y="434848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📈  분석 수행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57900" y="4846320"/>
            <a:ext cx="73152" cy="201168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08476" y="5047488"/>
            <a:ext cx="4572000" cy="5486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9916" y="509828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📋  표 · 그래프 · 보고서 + 출처 자동 첨부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1234440"/>
            <a:ext cx="306324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1234440"/>
            <a:ext cx="306324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1417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7E"/>
                </a:solidFill>
              </a:rPr>
              <a:t>예시 질문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1901952"/>
            <a:ext cx="2743200" cy="1115568"/>
          </a:xfrm>
          <a:prstGeom prst="rect">
            <a:avLst/>
          </a:prstGeom>
          <a:solidFill>
            <a:srgbClr val="C5CAFF"/>
          </a:solidFill>
          <a:ln w="6350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2039112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237E"/>
                </a:solidFill>
              </a:rPr>
              <a:t>"최근 5년 부채 증가율
상위 10개 기관"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82112"/>
            <a:ext cx="2743200" cy="1115568"/>
          </a:xfrm>
          <a:prstGeom prst="rect">
            <a:avLst/>
          </a:prstGeom>
          <a:solidFill>
            <a:srgbClr val="C5CAFF"/>
          </a:solidFill>
          <a:ln w="6350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3319272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237E"/>
                </a:solidFill>
              </a:rPr>
              <a:t>"A기관·B기관 통합
검토 보고서"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62272"/>
            <a:ext cx="2743200" cy="1115568"/>
          </a:xfrm>
          <a:prstGeom prst="rect">
            <a:avLst/>
          </a:prstGeom>
          <a:solidFill>
            <a:srgbClr val="C5CAFF"/>
          </a:solidFill>
          <a:ln w="6350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599432"/>
            <a:ext cx="2560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237E"/>
                </a:solidFill>
              </a:rPr>
              <a:t>"육아휴직 사용률 가장
높은 기관은?"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60" y="1234440"/>
            <a:ext cx="306324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823960" y="1234440"/>
            <a:ext cx="3063240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06840" y="1417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2E"/>
                </a:solidFill>
              </a:rPr>
              <a:t>출력 형태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6840" y="1901952"/>
            <a:ext cx="2743200" cy="685800"/>
          </a:xfrm>
          <a:prstGeom prst="rect">
            <a:avLst/>
          </a:prstGeom>
          <a:solidFill>
            <a:srgbClr val="B9F6CA"/>
          </a:solidFill>
          <a:ln w="63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199339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20848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시계열 차트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06840" y="2724912"/>
            <a:ext cx="2743200" cy="685800"/>
          </a:xfrm>
          <a:prstGeom prst="rect">
            <a:avLst/>
          </a:prstGeom>
          <a:solidFill>
            <a:srgbClr val="B9F6CA"/>
          </a:solidFill>
          <a:ln w="63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281635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20" y="29077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비교 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06840" y="3547872"/>
            <a:ext cx="2743200" cy="685800"/>
          </a:xfrm>
          <a:prstGeom prst="rect">
            <a:avLst/>
          </a:prstGeom>
          <a:solidFill>
            <a:srgbClr val="B9F6CA"/>
          </a:solidFill>
          <a:ln w="63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98280" y="36393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37307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보고서 초안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370832"/>
            <a:ext cx="2743200" cy="685800"/>
          </a:xfrm>
          <a:prstGeom prst="rect">
            <a:avLst/>
          </a:prstGeom>
          <a:solidFill>
            <a:srgbClr val="B9F6CA"/>
          </a:solidFill>
          <a:ln w="63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446227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6920" y="455371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출처 및 공시일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06840" y="5193792"/>
            <a:ext cx="2743200" cy="685800"/>
          </a:xfrm>
          <a:prstGeom prst="rect">
            <a:avLst/>
          </a:prstGeom>
          <a:solidFill>
            <a:srgbClr val="B9F6CA"/>
          </a:solidFill>
          <a:ln w="63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98280" y="528523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</a:rPr>
              <a:t>⚠️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46920" y="53766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결측 사유 안내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   활용 사례 ①  국민 서비스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누구나 AI에게 물어보면 공공기관 정보를 즉시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10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3749039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A1A2E"/>
                </a:solidFill>
              </a:rPr>
              <a:t>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95728"/>
            <a:ext cx="3474720" cy="1024128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146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D5AFE"/>
                </a:solidFill>
              </a:rPr>
              <a:t>한전 부채 얼마야?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520440"/>
            <a:ext cx="2834640" cy="457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5AFE"/>
                </a:solidFill>
              </a:rPr>
              <a:t>→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41648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한국전력 최근 5년 부채 추이
수치·그래프 즉시 제공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234440"/>
            <a:ext cx="3749039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A1A2E"/>
                </a:solidFill>
              </a:rPr>
              <a:t>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98848" y="2395728"/>
            <a:ext cx="3474720" cy="1024128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25146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838F"/>
                </a:solidFill>
              </a:rPr>
              <a:t>육아휴직 사용률이
가장 높은 기관은?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18888" y="3520440"/>
            <a:ext cx="2834640" cy="457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38F"/>
                </a:solidFill>
              </a:rPr>
              <a:t>→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4041648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355개 기관 육아휴직 데이터
순위 표 자동 생성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03336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03336" y="1234440"/>
            <a:ext cx="3749039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6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1A1A2E"/>
                </a:solidFill>
              </a:rPr>
              <a:t>🏟️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0496" y="2395728"/>
            <a:ext cx="3474720" cy="1024128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31936" y="25146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D00"/>
                </a:solidFill>
              </a:rPr>
              <a:t>근처 공공기관
체육시설 알려줘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0536" y="3520440"/>
            <a:ext cx="2834640" cy="4572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31936" y="3657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D00"/>
                </a:solidFill>
              </a:rPr>
              <a:t>→ 결과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31936" y="4041648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ALIO PLUS 시설 정보
예약 링크·운영시간 안내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6601968"/>
            <a:ext cx="11548872" cy="384048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638544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사용자는 웹사이트 구조를 몰라도 됩니다  —  질문만 하면 됩니다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11   활용 사례 ②  공공기관 실무자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벤치마킹·평가 대응·조직운영 정보를 즉시 활용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11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3749039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1A1A2E"/>
                </a:solidFill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0428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D5AFE"/>
                </a:solidFill>
              </a:rPr>
              <a:t>ESG 우수사례 정리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4640"/>
            <a:ext cx="3474720" cy="685800"/>
          </a:xfrm>
          <a:prstGeom prst="rect">
            <a:avLst/>
          </a:prstGeom>
          <a:solidFill>
            <a:srgbClr val="C5CAFF"/>
          </a:solidFill>
          <a:ln w="6350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3D5AFE"/>
                </a:solidFill>
              </a:rPr>
              <a:t>"유사기관 ESG 우수사례 정리"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11880"/>
            <a:ext cx="2834640" cy="457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FE"/>
                </a:solidFill>
              </a:rPr>
              <a:t>출력 결과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69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동종 기관 ESG 공시 항목
우수 사례 자동 요약 제공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1234440"/>
            <a:ext cx="3749039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1A1A2E"/>
                </a:solidFill>
              </a:rPr>
              <a:t>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230428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838F"/>
                </a:solidFill>
              </a:rPr>
              <a:t>경영평가 지적사항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8848" y="2834640"/>
            <a:ext cx="3474720" cy="685800"/>
          </a:xfrm>
          <a:prstGeom prst="rect">
            <a:avLst/>
          </a:prstGeom>
          <a:solidFill>
            <a:srgbClr val="B2EBF2"/>
          </a:solidFill>
          <a:ln w="6350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838F"/>
                </a:solidFill>
              </a:rPr>
              <a:t>"최근 경영평가 지적사항 분석"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18888" y="3611880"/>
            <a:ext cx="2834640" cy="457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38F"/>
                </a:solidFill>
              </a:rPr>
              <a:t>출력 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4069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2025·2026 평가편람 기준
지적 패턴·주요 지표 분석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03336" y="1234440"/>
            <a:ext cx="3749039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03336" y="1234440"/>
            <a:ext cx="3749039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336" y="146304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1A1A2E"/>
                </a:solidFill>
              </a:rPr>
              <a:t>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2304288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6D00"/>
                </a:solidFill>
              </a:rPr>
              <a:t>조직운영 비교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0496" y="2834640"/>
            <a:ext cx="3474720" cy="685800"/>
          </a:xfrm>
          <a:prstGeom prst="rect">
            <a:avLst/>
          </a:prstGeom>
          <a:solidFill>
            <a:srgbClr val="FFE0CC"/>
          </a:solidFill>
          <a:ln w="63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9443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6D00"/>
                </a:solidFill>
              </a:rPr>
              <a:t>"기관별 조직운영 비교"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60536" y="3611880"/>
            <a:ext cx="2834640" cy="4572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31936" y="37307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D00"/>
                </a:solidFill>
              </a:rPr>
              <a:t>출력 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1936" y="4069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05670"/>
                </a:solidFill>
              </a:rPr>
              <a:t>정원·실인원·보수 등
11개 메트릭 동시 비교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6601968"/>
            <a:ext cx="11548872" cy="384048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638544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법령·지침·편람 통합 검색  —  신규 담당자 온보딩 시간 대폭 단축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12   활용 사례 ③  재경부 업무  ★  (핵심 슬라이드)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기관 통합 검토 보고서를 AI가 자동으로 작성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12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11548872" cy="7498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109728" cy="74980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335024"/>
            <a:ext cx="11091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💬  "A기관과 B기관 통합 검토 보고서 작성해 줘"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14884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148840"/>
            <a:ext cx="1874519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29514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278892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5AFE"/>
                </a:solidFill>
              </a:rPr>
              <a:t>재무현황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" y="31363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부채·자산·수익
최근 5년 추이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0008" y="214884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50008" y="2148840"/>
            <a:ext cx="1874519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229514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278892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38F"/>
                </a:solidFill>
              </a:rPr>
              <a:t>인력현황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1363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정원·실인원·신규
채용 현황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79976" y="214884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2148840"/>
            <a:ext cx="1874519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9976" y="229514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9976" y="278892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4DFF"/>
                </a:solidFill>
              </a:rPr>
              <a:t>주요사업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31363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설립 목적·핵심
기능 정리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84048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840480"/>
            <a:ext cx="1874519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398678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48056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지역분포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" y="482803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본사·지사 소재지
지역별 인력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50008" y="384048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350008" y="3840480"/>
            <a:ext cx="1874519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50008" y="398678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448056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C853"/>
                </a:solidFill>
              </a:rPr>
              <a:t>중복기능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3160" y="482803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유사 기능 도출
통합 시 효율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9976" y="3840480"/>
            <a:ext cx="1874519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79976" y="3840480"/>
            <a:ext cx="1874519" cy="54864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79976" y="3986784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1A2E"/>
                </a:solidFill>
              </a:rPr>
              <a:t>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9976" y="448056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8F00"/>
                </a:solidFill>
              </a:rPr>
              <a:t>기대효과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3128" y="482803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05670"/>
                </a:solidFill>
              </a:rPr>
              <a:t>시나리오별
예상 효과 요약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2084831"/>
            <a:ext cx="5440680" cy="3337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2084831"/>
            <a:ext cx="5440680" cy="54864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226771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F00"/>
                </a:solidFill>
              </a:rPr>
              <a:t>기대 효과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2788920"/>
            <a:ext cx="51206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56832" y="2862072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50608" y="288036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수 시간 → 수 분으로 보고서 작성 시간 단축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3410712"/>
            <a:ext cx="51206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56832" y="3483864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0608" y="3502152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수작업 엑셀 없이 자동 데이터 수집·정리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4032504"/>
            <a:ext cx="51206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56832" y="4105656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4123944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출처 자동 첨부 (공시일·API 기록 포함)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0" y="4654296"/>
            <a:ext cx="5120640" cy="502920"/>
          </a:xfrm>
          <a:prstGeom prst="rect">
            <a:avLst/>
          </a:prstGeom>
          <a:solidFill>
            <a:srgbClr val="FFF8E1"/>
          </a:solidFill>
          <a:ln w="6350">
            <a:solidFill>
              <a:srgbClr val="FF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56832" y="472744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</a:rPr>
              <a:t>♻️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50608" y="4745736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증원심사·기능개혁 등 다양한 업무 재활용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6199632"/>
            <a:ext cx="11548872" cy="38404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2920" y="6236208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1A2E"/>
                </a:solidFill>
              </a:rPr>
              <a:t>공개된 데이터  +  AI  =  행정 생산성의 획기적 향상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13   활용 사례 ④  브리티웍스 및 지능형 업무시스템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OpenAlio MCP는 특정 AI 서비스가 아닌 기반 인프라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13  / 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129844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어떤 AI 시스템에도 연결 가능한 개방형 인터페이스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2606040" cy="914400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9202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5059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D5AFE"/>
                </a:solidFill>
              </a:rPr>
              <a:t>브리티웍스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788920"/>
            <a:ext cx="54864" cy="34747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1874519"/>
            <a:ext cx="2606040" cy="914400"/>
          </a:xfrm>
          <a:prstGeom prst="rect">
            <a:avLst/>
          </a:prstGeom>
          <a:solidFill>
            <a:srgbClr val="EAE1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19202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45059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7C4DFF"/>
                </a:solidFill>
              </a:rPr>
              <a:t>지능형 업무시스템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788920"/>
            <a:ext cx="54864" cy="34747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874519"/>
            <a:ext cx="2606040" cy="914400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19202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45059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38F"/>
                </a:solidFill>
              </a:rPr>
              <a:t>Claude / ChatGPT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788920"/>
            <a:ext cx="54864" cy="34747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69680" y="1874519"/>
            <a:ext cx="2606040" cy="914400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0" y="1920240"/>
            <a:ext cx="2606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5059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6D00"/>
                </a:solidFill>
              </a:rPr>
              <a:t>향후 AI 플랫폼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04120" y="2788920"/>
            <a:ext cx="54864" cy="34747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11680" y="3136392"/>
            <a:ext cx="8138160" cy="1024128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1680" y="3136392"/>
            <a:ext cx="8138160" cy="91440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11680" y="4069080"/>
            <a:ext cx="8138160" cy="91440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1680" y="3291840"/>
            <a:ext cx="8138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OpenAlio MCP  —  표준 인터페이스 (MCP 프로토콜)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3767328"/>
            <a:ext cx="8138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5CAFF"/>
                </a:solidFill>
              </a:rPr>
              <a:t>표준화된 방식으로 어떤 AI든 연결 · 재사용 가능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57900" y="4160520"/>
            <a:ext cx="73152" cy="347472"/>
          </a:xfrm>
          <a:prstGeom prst="rect">
            <a:avLst/>
          </a:prstGeom>
          <a:solidFill>
            <a:srgbClr val="9E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4507992"/>
            <a:ext cx="2331720" cy="594360"/>
          </a:xfrm>
          <a:prstGeom prst="rect">
            <a:avLst/>
          </a:prstGeom>
          <a:solidFill>
            <a:srgbClr val="C5CAFF"/>
          </a:solidFill>
          <a:ln w="9525"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45262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D5AFE"/>
                </a:solidFill>
              </a:rPr>
              <a:t>ALIO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4507992"/>
            <a:ext cx="2331720" cy="594360"/>
          </a:xfrm>
          <a:prstGeom prst="rect">
            <a:avLst/>
          </a:prstGeom>
          <a:solidFill>
            <a:srgbClr val="B2EBF2"/>
          </a:solidFill>
          <a:ln w="9525">
            <a:solidFill>
              <a:srgbClr val="0083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45262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38F"/>
                </a:solidFill>
              </a:rPr>
              <a:t>ALIO PLUS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507992"/>
            <a:ext cx="2331720" cy="594360"/>
          </a:xfrm>
          <a:prstGeom prst="rect">
            <a:avLst/>
          </a:prstGeom>
          <a:solidFill>
            <a:srgbClr val="FFE0CC"/>
          </a:solidFill>
          <a:ln w="9525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45262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6D00"/>
                </a:solidFill>
              </a:rPr>
              <a:t>JOB-ALIO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0" y="4507992"/>
            <a:ext cx="2331720" cy="594360"/>
          </a:xfrm>
          <a:prstGeom prst="rect">
            <a:avLst/>
          </a:prstGeom>
          <a:solidFill>
            <a:srgbClr val="EAE1FF"/>
          </a:solidFill>
          <a:ln w="9525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452628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4DFF"/>
                </a:solidFill>
              </a:rPr>
              <a:t>법령 / 지침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321808"/>
            <a:ext cx="11548872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5C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394960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표준화된 MCP 프로토콜로 브리티웍스·지능형 업무시스템에 바로 연결 가능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650992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새로운 AI 플랫폼 도입 시에도 OpenAlio MCP는 그대로 재사용  —  인프라 투자 보호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907024"/>
            <a:ext cx="11183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 향후 데이터 추가(평가결과·국회·조달)도 MCP 서버에만 반영하면 모든 AI에 즉시 적용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703923" cy="109728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5028" y="0"/>
            <a:ext cx="4266133" cy="109728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1714" y="0"/>
            <a:ext cx="3047238" cy="109728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63138" y="0"/>
            <a:ext cx="109728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19824" y="0"/>
            <a:ext cx="73152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14   향후 발전 방향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8368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5CAFF"/>
                </a:solidFill>
              </a:rPr>
              <a:t>단계적 확장으로 공공기관 정보공개 체계를 AI 시대에 맞게 고도화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562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5CAFF"/>
                </a:solidFill>
              </a:rPr>
              <a:t>OpenAlio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1672" y="65562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C5CAFF"/>
                </a:solidFill>
              </a:rPr>
              <a:t>14  /  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234440"/>
            <a:ext cx="27889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234440"/>
            <a:ext cx="2788920" cy="54864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41732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1A2E"/>
                </a:solidFill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121408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3D5AFE"/>
                </a:solidFill>
              </a:rPr>
              <a:t>대국민 서비스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606040"/>
            <a:ext cx="1874519" cy="4572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743200"/>
            <a:ext cx="91440" cy="914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7066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ALIO 챗봇 구현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10128"/>
            <a:ext cx="91440" cy="914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2735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기관 비교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877056"/>
            <a:ext cx="91440" cy="914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정책 팩트체크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1234440"/>
            <a:ext cx="27889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1234440"/>
            <a:ext cx="2788920" cy="54864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141732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1A2E"/>
                </a:solidFill>
              </a:rPr>
              <a:t>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2121408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6D00"/>
                </a:solidFill>
              </a:rPr>
              <a:t>내부 업무 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606040"/>
            <a:ext cx="1874519" cy="4572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0" y="2743200"/>
            <a:ext cx="91440" cy="9144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27066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증원심사 지원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3310128"/>
            <a:ext cx="91440" cy="9144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32735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기능개혁 지원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877056"/>
            <a:ext cx="91440" cy="9144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40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경영평가 지원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0" y="4443984"/>
            <a:ext cx="91440" cy="9144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0" y="44074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언론대응·기관현황 자동 작성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234440"/>
            <a:ext cx="27889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1234440"/>
            <a:ext cx="2788920" cy="54864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141732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1A2E"/>
                </a:solidFill>
              </a:rPr>
              <a:t>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2121408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38F"/>
                </a:solidFill>
              </a:rPr>
              <a:t>연구 활용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0840" y="2606040"/>
            <a:ext cx="1874519" cy="4572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46520" y="2743200"/>
            <a:ext cx="91440" cy="9144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27066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공공기관 데이터 분석 플랫폼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3310128"/>
            <a:ext cx="91440" cy="9144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2735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평가결과 데이터 추가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46520" y="3877056"/>
            <a:ext cx="91440" cy="91440"/>
          </a:xfrm>
          <a:prstGeom prst="rect">
            <a:avLst/>
          </a:prstGeom>
          <a:solidFill>
            <a:srgbClr val="0083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3840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국회·조달 데이터 연계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1234440"/>
            <a:ext cx="27889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35440" y="1234440"/>
            <a:ext cx="278892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35440" y="141732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1A2E"/>
                </a:solidFill>
              </a:rPr>
              <a:t>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2121408"/>
            <a:ext cx="2788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7C4DFF"/>
                </a:solidFill>
              </a:rPr>
              <a:t>인프라 고도화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92640" y="2606040"/>
            <a:ext cx="1874519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20" y="2743200"/>
            <a:ext cx="91440" cy="9144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0" y="270662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HTTP/SSE 서버 전환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18320" y="3310128"/>
            <a:ext cx="91440" cy="9144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0" y="32735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인증·속도 제한 적용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18320" y="3877056"/>
            <a:ext cx="91440" cy="9144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01200" y="3840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자동 업데이트 파이프라인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18320" y="4443984"/>
            <a:ext cx="91440" cy="9144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01200" y="440740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보안 심의 대응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6492240"/>
            <a:ext cx="11548872" cy="54864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65379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Phase 1  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83280" y="65379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C400"/>
                </a:solidFill>
              </a:rPr>
              <a:t>Phase 2  🔄  현재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65379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Phase 3  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52560" y="6537960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Phase 4  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06959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69592" y="0"/>
            <a:ext cx="5119359" cy="6858000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394740" y="-228600"/>
            <a:ext cx="3200400" cy="3200400"/>
          </a:xfrm>
          <a:prstGeom prst="rect">
            <a:avLst/>
          </a:prstGeom>
          <a:solidFill>
            <a:srgbClr val="C5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861645" y="4114800"/>
            <a:ext cx="1828800" cy="18288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7069592" cy="73152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9728"/>
            <a:ext cx="73152" cy="6629400"/>
          </a:xfrm>
          <a:prstGeom prst="rect">
            <a:avLst/>
          </a:prstGeom>
          <a:solidFill>
            <a:srgbClr val="00B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68580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8D4"/>
                </a:solidFill>
              </a:rPr>
              <a:t>마무리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32588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정보공개의
다음 단계는
정보 활용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246120"/>
            <a:ext cx="4114800" cy="64008"/>
          </a:xfrm>
          <a:prstGeom prst="rect">
            <a:avLst/>
          </a:prstGeom>
          <a:solidFill>
            <a:srgbClr val="FFC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45643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CAFF"/>
                </a:solidFill>
              </a:rPr>
              <a:t>OpenAlio MCP는 공공기관 정보공개 체계를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80390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CAFF"/>
                </a:solidFill>
              </a:rPr>
              <a:t>AI 시대에 맞게 확장하기 위한 실험입니다.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15137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CAFF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98848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CAFF"/>
                </a:solidFill>
              </a:rPr>
              <a:t>국민과 행정이 공공기관 정보를 더 쉽고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84632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5CAFF"/>
                </a:solidFill>
              </a:rPr>
              <a:t>효과적으로 활용할 수 있도록 지원합니다.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5230368"/>
            <a:ext cx="1691640" cy="1261872"/>
          </a:xfrm>
          <a:prstGeom prst="rect">
            <a:avLst/>
          </a:prstGeom>
          <a:solidFill>
            <a:srgbClr val="00B8D4"/>
          </a:solidFill>
          <a:ln>
            <a:solidFill>
              <a:srgbClr val="00B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30352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76072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개방성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61081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오픈소스
누구나 기여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3472" y="5230368"/>
            <a:ext cx="1691640" cy="1261872"/>
          </a:xfrm>
          <a:prstGeom prst="rect">
            <a:avLst/>
          </a:prstGeom>
          <a:solidFill>
            <a:srgbClr val="3D5AFE"/>
          </a:solidFill>
          <a:ln>
            <a:solidFill>
              <a:srgbClr val="3D5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33472" y="530352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3472" y="576072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연결성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33472" y="61081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AI-데이터
표준 연결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2272" y="5230368"/>
            <a:ext cx="1691640" cy="1261872"/>
          </a:xfrm>
          <a:prstGeom prst="rect">
            <a:avLst/>
          </a:prstGeom>
          <a:solidFill>
            <a:srgbClr val="FF8F00"/>
          </a:solidFill>
          <a:ln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2272" y="5303520"/>
            <a:ext cx="1691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5760720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활용성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61081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질문 한 번
즉시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6446520"/>
            <a:ext cx="4572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C400"/>
                </a:solidFill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