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31352" y="0"/>
            <a:ext cx="3657600" cy="6858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39913" y="457200"/>
            <a:ext cx="137160" cy="5943600"/>
          </a:xfrm>
          <a:prstGeom prst="rect">
            <a:avLst/>
          </a:prstGeom>
          <a:solidFill>
            <a:srgbClr val="F57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0" y="73152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0" i="0">
                <a:solidFill>
                  <a:srgbClr val="212121"/>
                </a:solidFill>
              </a:rPr>
              <a:t>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6858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</a:rPr>
              <a:t>OpenAlio MCP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06324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BBDEFB"/>
                </a:solidFill>
              </a:rPr>
              <a:t>공공기관 정보공개의 AI 활용성 제고를 위한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6616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BBDEFB"/>
                </a:solidFill>
              </a:rPr>
              <a:t>MCP 기반 실험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206240"/>
            <a:ext cx="4114800" cy="54864"/>
          </a:xfrm>
          <a:prstGeom prst="rect">
            <a:avLst/>
          </a:prstGeom>
          <a:solidFill>
            <a:srgbClr val="F57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43484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김보성 사무관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8920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BDEFB"/>
                </a:solidFill>
              </a:rPr>
              <a:t>재경부 공공정책국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76072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0CAF9"/>
                </a:solidFill>
              </a:rPr>
              <a:t>2026. 06.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01  공공기관 정보공개의 성공, ALIO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BBDEFB"/>
                </a:solidFill>
              </a:rPr>
              <a:t>ALIO는 공공기관 투명성 제고를 위한 대표적인 성공 사례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2881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BDEFB"/>
                </a:solidFill>
              </a:rPr>
              <a:t>OpenAlio MCP  |  1 / 15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325880"/>
            <a:ext cx="5120640" cy="4846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46304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D47A1"/>
                </a:solidFill>
              </a:rPr>
              <a:t>ALIO의 핵심 가치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57400"/>
            <a:ext cx="4663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600">
                <a:solidFill>
                  <a:srgbClr val="212121"/>
                </a:solidFill>
              </a:rPr>
              <a:t>•  공공기관 경영정보 대국민 공개</a:t>
            </a:r>
          </a:p>
          <a:p>
            <a:pPr>
              <a:spcBef>
                <a:spcPts val="800"/>
              </a:spcBef>
            </a:pPr>
            <a:r>
              <a:rPr sz="1600">
                <a:solidFill>
                  <a:srgbClr val="212121"/>
                </a:solidFill>
              </a:rPr>
              <a:t>•  국민 알권리 확대</a:t>
            </a:r>
          </a:p>
          <a:p>
            <a:pPr>
              <a:spcBef>
                <a:spcPts val="800"/>
              </a:spcBef>
            </a:pPr>
            <a:r>
              <a:rPr sz="1600">
                <a:solidFill>
                  <a:srgbClr val="212121"/>
                </a:solidFill>
              </a:rPr>
              <a:t>•  공공기관 책임성 강화</a:t>
            </a:r>
          </a:p>
          <a:p>
            <a:pPr>
              <a:spcBef>
                <a:spcPts val="800"/>
              </a:spcBef>
            </a:pPr>
            <a:r>
              <a:rPr sz="1600">
                <a:solidFill>
                  <a:srgbClr val="212121"/>
                </a:solidFill>
              </a:rPr>
              <a:t>•  355개 공공기관 정보 통합 제공</a:t>
            </a:r>
          </a:p>
          <a:p>
            <a:pPr>
              <a:spcBef>
                <a:spcPts val="800"/>
              </a:spcBef>
            </a:pPr>
            <a:r>
              <a:rPr sz="1600">
                <a:solidFill>
                  <a:srgbClr val="212121"/>
                </a:solidFill>
              </a:rPr>
              <a:t>•  재무·인사·경영평가 등 50개 공시항목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0" y="1325880"/>
            <a:ext cx="5943600" cy="4846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0" y="146304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D47A1"/>
                </a:solidFill>
              </a:rPr>
              <a:t>서비스 발전 연혁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2011680"/>
            <a:ext cx="777240" cy="4572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0" y="2011680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2005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199339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565C0"/>
                </a:solidFill>
              </a:rPr>
              <a:t>ALIO 출범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2267712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16161"/>
                </a:solidFill>
              </a:rPr>
              <a:t>공공기관 경영정보 최초 공개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2468880"/>
            <a:ext cx="45720" cy="384048"/>
          </a:xfrm>
          <a:prstGeom prst="rect">
            <a:avLst/>
          </a:prstGeom>
          <a:solidFill>
            <a:srgbClr val="6161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2907792"/>
            <a:ext cx="777240" cy="4572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0" y="2907792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2014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2889504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897B"/>
                </a:solidFill>
              </a:rPr>
              <a:t>ALIO PLUS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0" y="3163824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16161"/>
                </a:solidFill>
              </a:rPr>
              <a:t>채용·시설·사업 정보 통합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0" y="3364992"/>
            <a:ext cx="45720" cy="384048"/>
          </a:xfrm>
          <a:prstGeom prst="rect">
            <a:avLst/>
          </a:prstGeom>
          <a:solidFill>
            <a:srgbClr val="6161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3803904"/>
            <a:ext cx="777240" cy="4572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26480" y="3803904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2019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3785616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65100"/>
                </a:solidFill>
              </a:rPr>
              <a:t>JOB-ALIO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4059936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16161"/>
                </a:solidFill>
              </a:rPr>
              <a:t>공공기관 채용정보 전문 서비스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92240" y="4261104"/>
            <a:ext cx="45720" cy="384048"/>
          </a:xfrm>
          <a:prstGeom prst="rect">
            <a:avLst/>
          </a:prstGeom>
          <a:solidFill>
            <a:srgbClr val="6161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26480" y="4700016"/>
            <a:ext cx="777240" cy="457200"/>
          </a:xfrm>
          <a:prstGeom prst="rect">
            <a:avLst/>
          </a:prstGeom>
          <a:solidFill>
            <a:srgbClr val="F57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0" y="4700016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468172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7F17"/>
                </a:solidFill>
              </a:rPr>
              <a:t>OpenAlio MCP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0880" y="4956048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16161"/>
                </a:solidFill>
              </a:rPr>
              <a:t>AI 활용 가능 개방형 인터페이스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02  그러나 AI 시대의 새로운 과제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BBDEFB"/>
                </a:solidFill>
              </a:rPr>
              <a:t>정보 공개는 성공했지만 정보 활용은 여전히 어렵다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2881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BDEFB"/>
                </a:solidFill>
              </a:rPr>
              <a:t>OpenAlio MCP  |  2 / 15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325880"/>
            <a:ext cx="5120640" cy="4846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46304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D47A1"/>
                </a:solidFill>
              </a:rPr>
              <a:t>공공기관 정보, 어디에 흩어져 있나?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103120"/>
            <a:ext cx="4389120" cy="50292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47A1"/>
                </a:solidFill>
              </a:rPr>
              <a:t>ALIO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697480"/>
            <a:ext cx="4389120" cy="50292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74320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47A1"/>
                </a:solidFill>
              </a:rPr>
              <a:t>ALIO PLUS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3291840"/>
            <a:ext cx="4389120" cy="50292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33756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47A1"/>
                </a:solidFill>
              </a:rPr>
              <a:t>JOB-ALIO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3886200"/>
            <a:ext cx="4389120" cy="50292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93192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47A1"/>
                </a:solidFill>
              </a:rPr>
              <a:t>기관 홈페이지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4480560"/>
            <a:ext cx="4389120" cy="50292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52628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47A1"/>
                </a:solidFill>
              </a:rPr>
              <a:t>법령 / 지침 / 편람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5074920"/>
            <a:ext cx="4389120" cy="50292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12064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47A1"/>
                </a:solidFill>
              </a:rPr>
              <a:t>뉴스 / 보도자료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52160" y="1325880"/>
            <a:ext cx="5943600" cy="4846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5040" y="146304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D47A1"/>
                </a:solidFill>
              </a:rPr>
              <a:t>AI가 활용하기 어려운 이유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35040" y="2103120"/>
            <a:ext cx="73152" cy="54864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1031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65100"/>
                </a:solidFill>
              </a:rPr>
              <a:t>분산성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237744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16161"/>
                </a:solidFill>
              </a:rPr>
              <a:t>여러 사이트에 나뉜 정보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35040" y="2926080"/>
            <a:ext cx="73152" cy="54864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29260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65100"/>
                </a:solidFill>
              </a:rPr>
              <a:t>비구조성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320040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16161"/>
                </a:solidFill>
              </a:rPr>
              <a:t>PDF·엑셀·웹페이지 혼재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35040" y="3749040"/>
            <a:ext cx="73152" cy="54864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37490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65100"/>
                </a:solidFill>
              </a:rPr>
              <a:t>비연결성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40" y="40233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16161"/>
                </a:solidFill>
              </a:rPr>
              <a:t>기관 간 비교 불가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35040" y="4572000"/>
            <a:ext cx="73152" cy="54864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45720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65100"/>
                </a:solidFill>
              </a:rPr>
              <a:t>저기계가독성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63640" y="48463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16161"/>
                </a:solidFill>
              </a:rPr>
              <a:t>AI 직접 활용 어려움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0" y="566928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1">
                <a:solidFill>
                  <a:srgbClr val="0D47A1"/>
                </a:solidFill>
              </a:rPr>
              <a:t>→ 정보는 공개됐지만, AI는 아직 '읽지 못한다'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03  국민 입장에서의 Pain Point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BBDEFB"/>
                </a:solidFill>
              </a:rPr>
              <a:t>정보는 공개되어 있으나 질문하기 어렵다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2881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BDEFB"/>
                </a:solidFill>
              </a:rPr>
              <a:t>OpenAlio MCP  |  3 / 15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325880"/>
            <a:ext cx="11457432" cy="77724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41732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💬  "한국전력의 최근 5년 부채 추이는?"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286000"/>
            <a:ext cx="5303520" cy="3931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37744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E65100"/>
                </a:solidFill>
              </a:rPr>
              <a:t>현재 절차 (Before)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97280" y="2880360"/>
            <a:ext cx="3200400" cy="438912"/>
          </a:xfrm>
          <a:prstGeom prst="rect">
            <a:avLst/>
          </a:prstGeom>
          <a:solidFill>
            <a:srgbClr val="FFCC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931160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12121"/>
                </a:solidFill>
              </a:rPr>
              <a:t>① ALIO 접속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51760" y="3319272"/>
            <a:ext cx="91440" cy="164592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97280" y="3483864"/>
            <a:ext cx="3200400" cy="438912"/>
          </a:xfrm>
          <a:prstGeom prst="rect">
            <a:avLst/>
          </a:prstGeom>
          <a:solidFill>
            <a:srgbClr val="FFCC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3534664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12121"/>
                </a:solidFill>
              </a:rPr>
              <a:t>② 기관 검색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51760" y="3922776"/>
            <a:ext cx="91440" cy="164592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97280" y="4087368"/>
            <a:ext cx="3200400" cy="438912"/>
          </a:xfrm>
          <a:prstGeom prst="rect">
            <a:avLst/>
          </a:prstGeom>
          <a:solidFill>
            <a:srgbClr val="FFCC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4138168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12121"/>
                </a:solidFill>
              </a:rPr>
              <a:t>③ 재무현황 이동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51760" y="4526280"/>
            <a:ext cx="91440" cy="164592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97280" y="4690872"/>
            <a:ext cx="3200400" cy="438912"/>
          </a:xfrm>
          <a:prstGeom prst="rect">
            <a:avLst/>
          </a:prstGeom>
          <a:solidFill>
            <a:srgbClr val="FFCC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4741672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12121"/>
                </a:solidFill>
              </a:rPr>
              <a:t>④ 자료 다운로드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651760" y="5129784"/>
            <a:ext cx="91440" cy="164592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97280" y="5294376"/>
            <a:ext cx="3200400" cy="438912"/>
          </a:xfrm>
          <a:prstGeom prst="rect">
            <a:avLst/>
          </a:prstGeom>
          <a:solidFill>
            <a:srgbClr val="FFCC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5345176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12121"/>
                </a:solidFill>
              </a:rPr>
              <a:t>⑤ 직접 분석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35040" y="2286000"/>
            <a:ext cx="5760720" cy="3931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17920" y="237744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897B"/>
                </a:solidFill>
              </a:rPr>
              <a:t>OpenAlio MCP 활용 (After)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49440" y="2880360"/>
            <a:ext cx="3657600" cy="50292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49440" y="2931160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질문 입력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732520" y="3383280"/>
            <a:ext cx="91440" cy="27432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949440" y="3657600"/>
            <a:ext cx="3657600" cy="50292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49440" y="3708400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AI + OpenAlio MCP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732520" y="4160520"/>
            <a:ext cx="91440" cy="27432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949440" y="4434840"/>
            <a:ext cx="3657600" cy="50292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49440" y="4485640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즉시 분석·시각화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0" y="502920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16161"/>
                </a:solidFill>
              </a:rPr>
              <a:t>다른 예시 질문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0" y="5349240"/>
            <a:ext cx="5394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300">
                <a:solidFill>
                  <a:srgbClr val="616161"/>
                </a:solidFill>
              </a:rPr>
              <a:t>•  임원 보수 순위 비교</a:t>
            </a:r>
          </a:p>
          <a:p>
            <a:pPr>
              <a:spcBef>
                <a:spcPts val="800"/>
              </a:spcBef>
            </a:pPr>
            <a:r>
              <a:rPr sz="1300">
                <a:solidFill>
                  <a:srgbClr val="616161"/>
                </a:solidFill>
              </a:rPr>
              <a:t>•  부채 증가율 상위 기관</a:t>
            </a:r>
          </a:p>
          <a:p>
            <a:pPr>
              <a:spcBef>
                <a:spcPts val="800"/>
              </a:spcBef>
            </a:pPr>
            <a:r>
              <a:rPr sz="1300">
                <a:solidFill>
                  <a:srgbClr val="616161"/>
                </a:solidFill>
              </a:rPr>
              <a:t>•  기관 간 실시간 비교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04  공공기관 실무자 입장에서의 Pain Point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BBDEFB"/>
                </a:solidFill>
              </a:rPr>
              <a:t>벤치마킹과 업무학습 비용이 높다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2881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BDEFB"/>
                </a:solidFill>
              </a:rPr>
              <a:t>OpenAlio MCP  |  4 / 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17320"/>
            <a:ext cx="3566160" cy="4114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3566160" cy="50292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48132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유사기관 운영사례 탐색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103120"/>
            <a:ext cx="3200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12121"/>
                </a:solidFill>
              </a:rPr>
              <a:t>동종 기관 운영사례를
여러 사이트에서 수작업으로 수집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0" y="1417320"/>
            <a:ext cx="3566160" cy="4114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1417320"/>
            <a:ext cx="3566160" cy="50292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148132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경영평가 대응사례 확인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103120"/>
            <a:ext cx="3200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12121"/>
                </a:solidFill>
              </a:rPr>
              <a:t>지적사항·우수사례 PDF를
일일이 검토해야 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21040" y="1417320"/>
            <a:ext cx="3566160" cy="4114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321040" y="1417320"/>
            <a:ext cx="3566160" cy="50292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0" y="148132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신규 담당자 업무학습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2103120"/>
            <a:ext cx="3200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12121"/>
                </a:solidFill>
              </a:rPr>
              <a:t>법령·지침·편람이 분산돼
온보딩 비용 과다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5669280"/>
            <a:ext cx="11457432" cy="77724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576072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→ OpenAlio MCP: AI에게 물어보면 즉시 정리된 벤치마킹 결과 제공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05  재경부·주무부처 공무원 입장에서의 Pain Point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BBDEFB"/>
                </a:solidFill>
              </a:rPr>
              <a:t>공개된 데이터를 활용하는 데 많은 행정비용이 발생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2881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BDEFB"/>
                </a:solidFill>
              </a:rPr>
              <a:t>OpenAlio MCP  |  5 / 15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325880"/>
            <a:ext cx="3840480" cy="4846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4630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D47A1"/>
                </a:solidFill>
              </a:rPr>
              <a:t>주요 업무 유형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057400"/>
            <a:ext cx="3200400" cy="475488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112264"/>
            <a:ext cx="3108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47A1"/>
                </a:solidFill>
              </a:rPr>
              <a:t>기능개혁 검토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3200400" cy="475488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706624"/>
            <a:ext cx="3108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47A1"/>
                </a:solidFill>
              </a:rPr>
              <a:t>증원심사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246120"/>
            <a:ext cx="3200400" cy="475488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3108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47A1"/>
                </a:solidFill>
              </a:rPr>
              <a:t>경영평가 지원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840480"/>
            <a:ext cx="3200400" cy="475488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895344"/>
            <a:ext cx="3108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47A1"/>
                </a:solidFill>
              </a:rPr>
              <a:t>기관 통합 검토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434840"/>
            <a:ext cx="3200400" cy="475488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489704"/>
            <a:ext cx="3108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47A1"/>
                </a:solidFill>
              </a:rPr>
              <a:t>보도 대응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029200"/>
            <a:ext cx="3200400" cy="475488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084064"/>
            <a:ext cx="3108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47A1"/>
                </a:solidFill>
              </a:rPr>
              <a:t>팩트체크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1325880"/>
            <a:ext cx="7223760" cy="4846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63440" y="146304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E65100"/>
                </a:solidFill>
              </a:rPr>
              <a:t>실제 업무 흐름 (현재)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54880" y="2057400"/>
            <a:ext cx="6583680" cy="47548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46320" y="2112264"/>
            <a:ext cx="6400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기관별 정원·재무·사업 정보 확인 필요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55279" y="2532888"/>
            <a:ext cx="73152" cy="128016"/>
          </a:xfrm>
          <a:prstGeom prst="rect">
            <a:avLst/>
          </a:prstGeom>
          <a:solidFill>
            <a:srgbClr val="6161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754880" y="2679192"/>
            <a:ext cx="6583680" cy="47548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2734056"/>
            <a:ext cx="6400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ALIO 접속 → 각 항목 클릭 → 엑셀 다운로드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55279" y="3154680"/>
            <a:ext cx="73152" cy="128016"/>
          </a:xfrm>
          <a:prstGeom prst="rect">
            <a:avLst/>
          </a:prstGeom>
          <a:solidFill>
            <a:srgbClr val="6161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754880" y="3300984"/>
            <a:ext cx="6583680" cy="47548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46320" y="3355848"/>
            <a:ext cx="6400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파일 수작업 정리 및 가공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55279" y="3776472"/>
            <a:ext cx="73152" cy="128016"/>
          </a:xfrm>
          <a:prstGeom prst="rect">
            <a:avLst/>
          </a:prstGeom>
          <a:solidFill>
            <a:srgbClr val="6161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754880" y="3922776"/>
            <a:ext cx="6583680" cy="47548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46320" y="3977640"/>
            <a:ext cx="6400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분석 수행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55279" y="4398264"/>
            <a:ext cx="73152" cy="128016"/>
          </a:xfrm>
          <a:prstGeom prst="rect">
            <a:avLst/>
          </a:prstGeom>
          <a:solidFill>
            <a:srgbClr val="6161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754880" y="4544568"/>
            <a:ext cx="6583680" cy="47548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46320" y="4599432"/>
            <a:ext cx="6400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보고서 작성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63440" y="566928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1">
                <a:solidFill>
                  <a:srgbClr val="E65100"/>
                </a:solidFill>
              </a:rPr>
              <a:t>⚠  기관 하나당 수십 개 파일, 수백 개 기관 = 막대한 행정비용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06  연구자 입장에서의 Pain Point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BBDEFB"/>
                </a:solidFill>
              </a:rPr>
              <a:t>데이터보다 데이터 준비에 더 많은 시간이 소요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2881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BDEFB"/>
                </a:solidFill>
              </a:rPr>
              <a:t>OpenAlio MCP  |  6 /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371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D47A1"/>
                </a:solidFill>
              </a:rPr>
              <a:t>데이터 준비에 소요되는 연구 시간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286000"/>
            <a:ext cx="2560320" cy="292608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37744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수집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017520"/>
            <a:ext cx="2377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ALIO·기관 홈페이지
수작업 다운로드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1840" y="3474720"/>
            <a:ext cx="365760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0" y="2286000"/>
            <a:ext cx="2560320" cy="292608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0" y="237744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정제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40" y="3017520"/>
            <a:ext cx="2377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이상값·결측값
수동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3474720"/>
            <a:ext cx="365760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83680" y="2286000"/>
            <a:ext cx="2560320" cy="292608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237744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통합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3017520"/>
            <a:ext cx="2377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기관 코드 통일
형식 표준화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0" y="3474720"/>
            <a:ext cx="365760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509760" y="2286000"/>
            <a:ext cx="2560320" cy="292608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09760" y="237744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전처리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3017520"/>
            <a:ext cx="2377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분석 가능한
형태로 변환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0" y="539496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616161"/>
                </a:solidFill>
              </a:rPr>
              <a:t>⟳  위 과정을 매 연구마다 반복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852160"/>
            <a:ext cx="11274552" cy="6858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5943600"/>
            <a:ext cx="109087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→ OpenAlio MCP: 정제된 11개 메트릭 × 355개 기관 × 6년치 즉시 제공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07  그래서 OpenAlio MCP를 개발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BBDEFB"/>
                </a:solidFill>
              </a:rPr>
              <a:t>공공기관 정보를 AI가 활용할 수 있도록 연결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2881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BDEFB"/>
                </a:solidFill>
              </a:rPr>
              <a:t>OpenAlio MCP  |  7 / 15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325880"/>
            <a:ext cx="2926080" cy="4846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463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D47A1"/>
                </a:solidFill>
              </a:rPr>
              <a:t>데이터 소스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057400"/>
            <a:ext cx="2377440" cy="4572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112264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47A1"/>
                </a:solidFill>
              </a:rPr>
              <a:t>ALIO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624328"/>
            <a:ext cx="2377440" cy="4572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67919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47A1"/>
                </a:solidFill>
              </a:rPr>
              <a:t>ALIO PLUS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191256"/>
            <a:ext cx="2377440" cy="4572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461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47A1"/>
                </a:solidFill>
              </a:rPr>
              <a:t>JOB-ALIO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758184"/>
            <a:ext cx="2377440" cy="4572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81304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47A1"/>
                </a:solidFill>
              </a:rPr>
              <a:t>법령·지침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325112"/>
            <a:ext cx="2377440" cy="4572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379976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47A1"/>
                </a:solidFill>
              </a:rPr>
              <a:t>편람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892040"/>
            <a:ext cx="2377440" cy="4572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946904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47A1"/>
                </a:solidFill>
              </a:rPr>
              <a:t>뉴스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0" y="2286000"/>
            <a:ext cx="4754880" cy="210312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56032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OpenAlio MCP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324612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BDEFB"/>
                </a:solidFill>
              </a:rPr>
              <a:t>32개 도구 · 2개 프롬프트 · 5개 리소스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91840" y="3154680"/>
            <a:ext cx="384048" cy="109728"/>
          </a:xfrm>
          <a:prstGeom prst="rect">
            <a:avLst/>
          </a:prstGeom>
          <a:solidFill>
            <a:srgbClr val="F57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412480" y="3154680"/>
            <a:ext cx="384048" cy="109728"/>
          </a:xfrm>
          <a:prstGeom prst="rect">
            <a:avLst/>
          </a:prstGeom>
          <a:solidFill>
            <a:srgbClr val="F57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52560" y="1325880"/>
            <a:ext cx="2743200" cy="4846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35440" y="14630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D47A1"/>
                </a:solidFill>
              </a:rPr>
              <a:t>활용 대상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235440" y="2057400"/>
            <a:ext cx="2286000" cy="77724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81160" y="2093976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국민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81160" y="2441448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정보 조회·질문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235440" y="2971800"/>
            <a:ext cx="2286000" cy="77724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81160" y="3008376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공공기관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81160" y="3355848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벤치마킹·학습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235440" y="3886200"/>
            <a:ext cx="2286000" cy="77724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281160" y="3922776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공무원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81160" y="4270248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업무 자동화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235440" y="4800600"/>
            <a:ext cx="2286000" cy="77724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281160" y="4837176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연구자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81160" y="5184648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데이터 분석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6309360"/>
            <a:ext cx="11457432" cy="384048"/>
          </a:xfrm>
          <a:prstGeom prst="rect">
            <a:avLst/>
          </a:prstGeom>
          <a:solidFill>
            <a:srgbClr val="F57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6327648"/>
            <a:ext cx="110916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212121"/>
                </a:solidFill>
              </a:rPr>
              <a:t>공공기관 정보를 AI가 활용 가능한 형태로 연결하는 개방형 인터페이스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08  MCP란 무엇인가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BBDEFB"/>
                </a:solidFill>
              </a:rPr>
              <a:t>MCP는 AI 시대의 USB-C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2881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BDEFB"/>
                </a:solidFill>
              </a:rPr>
              <a:t>OpenAlio MCP  |  8 / 15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325880"/>
            <a:ext cx="5303520" cy="4846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46304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D47A1"/>
                </a:solidFill>
              </a:rPr>
              <a:t>USB-C 비유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9659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65100"/>
                </a:solidFill>
              </a:rPr>
              <a:t>Before: 기기마다 다른 충전기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423160"/>
            <a:ext cx="1828800" cy="365760"/>
          </a:xfrm>
          <a:prstGeom prst="rect">
            <a:avLst/>
          </a:prstGeom>
          <a:solidFill>
            <a:srgbClr val="FFCC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59736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</a:rPr>
              <a:t>스마트폰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60320" y="2560320"/>
            <a:ext cx="457200" cy="7315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017520" y="2423160"/>
            <a:ext cx="1371600" cy="36576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63240" y="2459736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전용 충전기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2898648"/>
            <a:ext cx="1828800" cy="365760"/>
          </a:xfrm>
          <a:prstGeom prst="rect">
            <a:avLst/>
          </a:prstGeom>
          <a:solidFill>
            <a:srgbClr val="FFCC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2935224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</a:rPr>
              <a:t>태블릿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60320" y="3035808"/>
            <a:ext cx="457200" cy="7315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017520" y="2898648"/>
            <a:ext cx="1371600" cy="36576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63240" y="2935224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전용 충전기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3374136"/>
            <a:ext cx="1828800" cy="365760"/>
          </a:xfrm>
          <a:prstGeom prst="rect">
            <a:avLst/>
          </a:prstGeom>
          <a:solidFill>
            <a:srgbClr val="FFCC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341071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</a:rPr>
              <a:t>노트북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560320" y="3511296"/>
            <a:ext cx="457200" cy="7315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017520" y="3374136"/>
            <a:ext cx="1371600" cy="36576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063240" y="3410712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전용 충전기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3849624"/>
            <a:ext cx="1828800" cy="365760"/>
          </a:xfrm>
          <a:prstGeom prst="rect">
            <a:avLst/>
          </a:prstGeom>
          <a:solidFill>
            <a:srgbClr val="FFCC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388620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</a:rPr>
              <a:t>카메라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60320" y="3986784"/>
            <a:ext cx="457200" cy="7315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017520" y="3849624"/>
            <a:ext cx="1371600" cy="36576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63240" y="388620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전용 충전기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44805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897B"/>
                </a:solidFill>
              </a:rPr>
              <a:t>After: USB-C 하나로 모든 기기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" y="4937760"/>
            <a:ext cx="914400" cy="4114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4965192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D47A1"/>
                </a:solidFill>
              </a:rPr>
              <a:t>스마트폰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737360" y="4937760"/>
            <a:ext cx="914400" cy="4114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737360" y="4965192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D47A1"/>
                </a:solidFill>
              </a:rPr>
              <a:t>태블릿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0" y="4937760"/>
            <a:ext cx="914400" cy="4114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43200" y="4965192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D47A1"/>
                </a:solidFill>
              </a:rPr>
              <a:t>노트북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749040" y="4937760"/>
            <a:ext cx="914400" cy="4114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749040" y="4965192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D47A1"/>
                </a:solidFill>
              </a:rPr>
              <a:t>카메라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737360" y="5394960"/>
            <a:ext cx="2286000" cy="54864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880360" y="5440680"/>
            <a:ext cx="73152" cy="32004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468880" y="5760720"/>
            <a:ext cx="914400" cy="36576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68880" y="577900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USB-C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852160" y="1325880"/>
            <a:ext cx="5943600" cy="4846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35040" y="146304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D47A1"/>
                </a:solidFill>
              </a:rPr>
              <a:t>MCP = Model Context Protocol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35040" y="2011680"/>
            <a:ext cx="5577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12121"/>
                </a:solidFill>
              </a:rPr>
              <a:t>AI 모델이 다양한 데이터 소스와
표준화된 방식으로 연결하는 프로토콜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26480" y="2926080"/>
            <a:ext cx="1188720" cy="4114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26480" y="2944368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D47A1"/>
                </a:solidFill>
              </a:rPr>
              <a:t>ALIO 경영정보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498080" y="2926080"/>
            <a:ext cx="1188720" cy="4114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498080" y="2944368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D47A1"/>
                </a:solidFill>
              </a:rPr>
              <a:t>법령·지침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869680" y="2926080"/>
            <a:ext cx="1188720" cy="4114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869680" y="2944368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D47A1"/>
                </a:solidFill>
              </a:rPr>
              <a:t>JOB-ALIO 채용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241280" y="2926080"/>
            <a:ext cx="1188720" cy="4114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241280" y="2944368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D47A1"/>
                </a:solidFill>
              </a:rPr>
              <a:t>뉴스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995160" y="3337560"/>
            <a:ext cx="4023360" cy="73152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869680" y="3410712"/>
            <a:ext cx="91440" cy="32004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503920" y="3730752"/>
            <a:ext cx="914400" cy="4572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503920" y="3749039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MCP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869680" y="4187952"/>
            <a:ext cx="91440" cy="27432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8503920" y="4462272"/>
            <a:ext cx="914400" cy="4572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503920" y="448056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AI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35040" y="512064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1">
                <a:solidFill>
                  <a:srgbClr val="00897B"/>
                </a:solidFill>
              </a:rPr>
              <a:t>→ 어떤 AI 서비스에도 동일한 방식으로 연결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35040" y="544068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16161"/>
                </a:solidFill>
              </a:rPr>
              <a:t>Claude / ChatGPT / Cursor / 브리티웍스 등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09  OpenAlio MCP는 어떻게 동작하는가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BBDEFB"/>
                </a:solidFill>
              </a:rPr>
              <a:t>사용자 질문 → AI → MCP → 데이터 조회 → 분석 → 결과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2881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BDEFB"/>
                </a:solidFill>
              </a:rPr>
              <a:t>OpenAlio MCP  |  9 / 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265676" y="1417320"/>
            <a:ext cx="3657600" cy="530352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5676" y="1455420"/>
            <a:ext cx="3657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사용자 질문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9612" y="1947672"/>
            <a:ext cx="109728" cy="201168"/>
          </a:xfrm>
          <a:prstGeom prst="rect">
            <a:avLst/>
          </a:prstGeom>
          <a:solidFill>
            <a:srgbClr val="6161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65676" y="2148840"/>
            <a:ext cx="3657600" cy="530352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65676" y="2186940"/>
            <a:ext cx="3657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AI (Claude / ChatGPT 등)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9612" y="2679192"/>
            <a:ext cx="109728" cy="201168"/>
          </a:xfrm>
          <a:prstGeom prst="rect">
            <a:avLst/>
          </a:prstGeom>
          <a:solidFill>
            <a:srgbClr val="6161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65676" y="2880360"/>
            <a:ext cx="3657600" cy="530352"/>
          </a:xfrm>
          <a:prstGeom prst="rect">
            <a:avLst/>
          </a:prstGeom>
          <a:solidFill>
            <a:srgbClr val="F57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65676" y="2918460"/>
            <a:ext cx="3657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OpenAlio MCP
(32개 도구)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39612" y="3410712"/>
            <a:ext cx="109728" cy="201168"/>
          </a:xfrm>
          <a:prstGeom prst="rect">
            <a:avLst/>
          </a:prstGeom>
          <a:solidFill>
            <a:srgbClr val="6161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65676" y="3611880"/>
            <a:ext cx="3657600" cy="530352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65676" y="3649980"/>
            <a:ext cx="3657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ALIO · ALIO PLUS
법령 · 뉴스 조회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9612" y="4142232"/>
            <a:ext cx="109728" cy="201168"/>
          </a:xfrm>
          <a:prstGeom prst="rect">
            <a:avLst/>
          </a:prstGeom>
          <a:solidFill>
            <a:srgbClr val="6161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65676" y="4343400"/>
            <a:ext cx="3657600" cy="530352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65676" y="4381500"/>
            <a:ext cx="3657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분석 수행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39612" y="4873752"/>
            <a:ext cx="109728" cy="201168"/>
          </a:xfrm>
          <a:prstGeom prst="rect">
            <a:avLst/>
          </a:prstGeom>
          <a:solidFill>
            <a:srgbClr val="6161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65676" y="5074920"/>
            <a:ext cx="3657600" cy="530352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65676" y="5113020"/>
            <a:ext cx="3657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표 · 그래프 · 보고서 생성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1417320"/>
            <a:ext cx="2743200" cy="5029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1536192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47A1"/>
                </a:solidFill>
              </a:rPr>
              <a:t>예시 질문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2103120"/>
            <a:ext cx="2468880" cy="118872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2212848"/>
            <a:ext cx="2377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D47A1"/>
                </a:solidFill>
              </a:rPr>
              <a:t>"최근 5년간 부채 증가율
상위 10개 기관"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474720"/>
            <a:ext cx="2468880" cy="118872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3584448"/>
            <a:ext cx="2377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D47A1"/>
                </a:solidFill>
              </a:rPr>
              <a:t>"A기관 B기관 통합 시
영향 분석"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846320"/>
            <a:ext cx="2468880" cy="118872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4956048"/>
            <a:ext cx="2377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D47A1"/>
                </a:solidFill>
              </a:rPr>
              <a:t>"육아휴직 사용률이 가장
높은 기관은?"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961120" y="1417320"/>
            <a:ext cx="2834640" cy="5029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0" y="1536192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47A1"/>
                </a:solidFill>
              </a:rPr>
              <a:t>출력 형태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0" y="2103120"/>
            <a:ext cx="2468880" cy="59436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89720" y="21945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D47A1"/>
                </a:solidFill>
              </a:rPr>
              <a:t>📊 시계열 차트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144000" y="2852928"/>
            <a:ext cx="2468880" cy="59436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89720" y="294436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D47A1"/>
                </a:solidFill>
              </a:rPr>
              <a:t>📋 비교 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144000" y="3602736"/>
            <a:ext cx="2468880" cy="59436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89720" y="3694176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D47A1"/>
                </a:solidFill>
              </a:rPr>
              <a:t>📝 보고서 초안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44000" y="4352544"/>
            <a:ext cx="2468880" cy="59436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89720" y="4443984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D47A1"/>
                </a:solidFill>
              </a:rPr>
              <a:t>🔗 출처 및 공시일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10  활용 사례 ①  국민 서비스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BBDEFB"/>
                </a:solidFill>
              </a:rPr>
              <a:t>누구나 AI에게 물어보면 공공기관 정보를 즉시 확인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2881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BDEFB"/>
                </a:solidFill>
              </a:rPr>
              <a:t>OpenAlio MCP  |  10 / 15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417320"/>
            <a:ext cx="3611880" cy="4663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554480"/>
            <a:ext cx="3611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 i="0">
                <a:solidFill>
                  <a:srgbClr val="212121"/>
                </a:solidFill>
              </a:rPr>
              <a:t>💰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468880"/>
            <a:ext cx="3611880" cy="123444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523744"/>
            <a:ext cx="3429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"한전 부채 얼마야?"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8404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897B"/>
                </a:solidFill>
              </a:rPr>
              <a:t>→ 결과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0624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16161"/>
                </a:solidFill>
              </a:rPr>
              <a:t>한국전력 최근 5년 부채 추이
그래프 및 수치 즉시 제공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80" y="1417320"/>
            <a:ext cx="3611880" cy="4663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0" y="1554480"/>
            <a:ext cx="3611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 i="0">
                <a:solidFill>
                  <a:srgbClr val="212121"/>
                </a:solidFill>
              </a:rPr>
              <a:t>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97680" y="2468880"/>
            <a:ext cx="3611880" cy="123444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0" y="2523744"/>
            <a:ext cx="3429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"육아휴직 사용률이
가장 높은 기관은?"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38404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897B"/>
                </a:solidFill>
              </a:rPr>
              <a:t>→ 결과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420624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16161"/>
                </a:solidFill>
              </a:rPr>
              <a:t>355개 기관 육아휴직 데이터
순위 표 자동 생성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0" y="1417320"/>
            <a:ext cx="3611880" cy="4663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1554480"/>
            <a:ext cx="3611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 i="0">
                <a:solidFill>
                  <a:srgbClr val="212121"/>
                </a:solidFill>
              </a:rPr>
              <a:t>🏟️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0" y="2468880"/>
            <a:ext cx="3611880" cy="123444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21040" y="2523744"/>
            <a:ext cx="3429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"근처 공공기관
체육시설 알려줘"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38404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897B"/>
                </a:solidFill>
              </a:rPr>
              <a:t>→ 결과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420624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16161"/>
                </a:solidFill>
              </a:rPr>
              <a:t>ALIO PLUS 시설 정보
예약 링크·운영시간 안내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6263640"/>
            <a:ext cx="11457432" cy="38404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6281928"/>
            <a:ext cx="110916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사용자는 웹사이트 구조를 몰라도 됩니다 — 질문만 하면 됩니다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11  활용 사례 ②  공공기관 실무자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BBDEFB"/>
                </a:solidFill>
              </a:rPr>
              <a:t>벤치마킹·평가 대응·조직운영 정보를 즉시 활용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2881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BDEFB"/>
                </a:solidFill>
              </a:rPr>
              <a:t>OpenAlio MCP  |  11 / 15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417320"/>
            <a:ext cx="3611880" cy="4663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417320"/>
            <a:ext cx="3611880" cy="50292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463040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ESG 우수사례 정리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011680"/>
            <a:ext cx="3337560" cy="10972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075688"/>
            <a:ext cx="3246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0D47A1"/>
                </a:solidFill>
              </a:rPr>
              <a:t>"유사기관 ESG 우수사례 정리"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24612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897B"/>
                </a:solidFill>
              </a:rPr>
              <a:t>출력 결과: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56616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16161"/>
                </a:solidFill>
              </a:rPr>
              <a:t>동종 기관 ESG 공시 항목
우수 사례 자동 요약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97680" y="1417320"/>
            <a:ext cx="3611880" cy="4663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97680" y="1417320"/>
            <a:ext cx="3611880" cy="50292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0" y="1463040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경영평가 지적사항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34840" y="2011680"/>
            <a:ext cx="3337560" cy="10972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60" y="2075688"/>
            <a:ext cx="3246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0D47A1"/>
                </a:solidFill>
              </a:rPr>
              <a:t>"최근 경영평가 지적사항 분석"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324612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897B"/>
                </a:solidFill>
              </a:rPr>
              <a:t>출력 결과: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56616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16161"/>
                </a:solidFill>
              </a:rPr>
              <a:t>2025·2026 평가편람 기준
지적 패턴 및 주요 지표 분석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0" y="1417320"/>
            <a:ext cx="3611880" cy="4663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0" y="1417320"/>
            <a:ext cx="3611880" cy="50292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21040" y="1463040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조직운영 비교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366760" y="2011680"/>
            <a:ext cx="3337560" cy="109728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80" y="2075688"/>
            <a:ext cx="3246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0D47A1"/>
                </a:solidFill>
              </a:rPr>
              <a:t>"기관별 조직운영 비교"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324612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897B"/>
                </a:solidFill>
              </a:rPr>
              <a:t>출력 결과: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356616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16161"/>
                </a:solidFill>
              </a:rPr>
              <a:t>정원·실제 인력·보수 등
11개 메트릭 동시 비교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6263640"/>
            <a:ext cx="11457432" cy="38404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6281928"/>
            <a:ext cx="110916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법령·지침·편람을 통합 검색 — 신규 담당자 온보딩 시간 대폭 단축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12  활용 사례 ③  재경부 업무  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BBDEFB"/>
                </a:solidFill>
              </a:rPr>
              <a:t>기관 통합 검토 보고서를 AI가 자동으로 작성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2881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BDEFB"/>
                </a:solidFill>
              </a:rPr>
              <a:t>OpenAlio MCP  |  12 / 15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325880"/>
            <a:ext cx="11457432" cy="96012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444752"/>
            <a:ext cx="110002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57F17"/>
                </a:solidFill>
              </a:rPr>
              <a:t>질문:  "A기관과 B기관 통합 검토 보고서 작성해 줘"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468880"/>
            <a:ext cx="1828800" cy="150876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542032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재무현황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017520"/>
            <a:ext cx="1737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부채·자산·수익
최근 5년 추이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14600" y="2468880"/>
            <a:ext cx="1828800" cy="150876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60320" y="2542032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인력현황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0" y="3017520"/>
            <a:ext cx="1737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정원·실인원·신규
채용 현황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0" y="2468880"/>
            <a:ext cx="1828800" cy="15087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2542032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주요사업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017520"/>
            <a:ext cx="1737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기관 설립 목적
및 핵심 기능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251960"/>
            <a:ext cx="1828800" cy="150876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4325112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지역 분포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800600"/>
            <a:ext cx="1737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본사·지사 소재지
지역별 인력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14600" y="4251960"/>
            <a:ext cx="1828800" cy="150876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560320" y="4325112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중복기능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0320" y="4800600"/>
            <a:ext cx="1737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유사 기능 도출
통합 시 효율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0" y="4251960"/>
            <a:ext cx="1828800" cy="150876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17720" y="4325112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기대효과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7720" y="4800600"/>
            <a:ext cx="1737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통합 시나리오별
예상 효과 요약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2423160"/>
            <a:ext cx="5394960" cy="3337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0" y="256032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D47A1"/>
                </a:solidFill>
              </a:rPr>
              <a:t>기대 효과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0" y="3108960"/>
            <a:ext cx="411480" cy="411480"/>
          </a:xfrm>
          <a:prstGeom prst="rect">
            <a:avLst/>
          </a:prstGeom>
          <a:solidFill>
            <a:srgbClr val="F57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3127248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86600" y="3145536"/>
            <a:ext cx="4480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12121"/>
                </a:solidFill>
              </a:rPr>
              <a:t>수 시간 → 수 분으로 보고서 작성 시간 단축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0" y="3703320"/>
            <a:ext cx="411480" cy="411480"/>
          </a:xfrm>
          <a:prstGeom prst="rect">
            <a:avLst/>
          </a:prstGeom>
          <a:solidFill>
            <a:srgbClr val="F57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0" y="3721608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86600" y="3739896"/>
            <a:ext cx="4480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12121"/>
                </a:solidFill>
              </a:rPr>
              <a:t>수작업 엑셀 다운로드 없이 자동 데이터 수집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0" y="4297680"/>
            <a:ext cx="411480" cy="411480"/>
          </a:xfrm>
          <a:prstGeom prst="rect">
            <a:avLst/>
          </a:prstGeom>
          <a:solidFill>
            <a:srgbClr val="F57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0" y="4315968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86600" y="4334256"/>
            <a:ext cx="4480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12121"/>
                </a:solidFill>
              </a:rPr>
              <a:t>출처 자동 첨부 (공시일·API 기록 포함)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0" y="4892040"/>
            <a:ext cx="411480" cy="411480"/>
          </a:xfrm>
          <a:prstGeom prst="rect">
            <a:avLst/>
          </a:prstGeom>
          <a:solidFill>
            <a:srgbClr val="F57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83680" y="4910328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86600" y="4928616"/>
            <a:ext cx="4480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12121"/>
                </a:solidFill>
              </a:rPr>
              <a:t>증원심사·기능개혁 등 다양한 업무에 재활용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6263640"/>
            <a:ext cx="11457432" cy="384048"/>
          </a:xfrm>
          <a:prstGeom prst="rect">
            <a:avLst/>
          </a:prstGeom>
          <a:solidFill>
            <a:srgbClr val="F57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6281928"/>
            <a:ext cx="110916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212121"/>
                </a:solidFill>
              </a:rPr>
              <a:t>공개된 데이터 + AI = 행정 생산성의 획기적 향상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13  활용 사례 ④  브리티웍스 및 지능형 업무시스템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BBDEFB"/>
                </a:solidFill>
              </a:rPr>
              <a:t>OpenAlio MCP는 특정 AI 서비스가 아닌 기반 인프라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2881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BDEFB"/>
                </a:solidFill>
              </a:rPr>
              <a:t>OpenAlio MCP  |  13 /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1732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47A1"/>
                </a:solidFill>
              </a:rPr>
              <a:t>어떤 AI 시스템에도 연결 가능한 개방형 인터페이스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103120"/>
            <a:ext cx="2560320" cy="73152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121408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브리티웍스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0" y="2103120"/>
            <a:ext cx="2560320" cy="73152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2121408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지능형 업무시스템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103120"/>
            <a:ext cx="2560320" cy="73152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2121408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Claude / ChatGPT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52560" y="2103120"/>
            <a:ext cx="2560320" cy="73152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0" y="2121408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향후 AI 플랫폼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39612" y="2834640"/>
            <a:ext cx="109728" cy="3657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20156" y="3017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0D47A1"/>
                </a:solidFill>
              </a:rPr>
              <a:t>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0" y="3200400"/>
            <a:ext cx="5669280" cy="914400"/>
          </a:xfrm>
          <a:prstGeom prst="rect">
            <a:avLst/>
          </a:prstGeom>
          <a:solidFill>
            <a:srgbClr val="F57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0" y="3337560"/>
            <a:ext cx="5669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12121"/>
                </a:solidFill>
              </a:rPr>
              <a:t>OpenAlio MCP  (표준 인터페이스)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39612" y="4114800"/>
            <a:ext cx="109728" cy="3657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" y="4480560"/>
            <a:ext cx="2377440" cy="73152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498848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ALIO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520440" y="4480560"/>
            <a:ext cx="2377440" cy="73152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20440" y="4498848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ALIO PLUS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26480" y="4480560"/>
            <a:ext cx="2377440" cy="73152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26480" y="4498848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JOB-ALIO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732520" y="4480560"/>
            <a:ext cx="2377440" cy="73152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32520" y="4498848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법령/지침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5440680"/>
            <a:ext cx="11457432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5486400"/>
            <a:ext cx="110916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</a:rPr>
              <a:t>• 표준화된 프로토콜(MCP)을 통해 어떤 AI 서비스도 동일한 방식으로 공공기관 데이터 활용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5696712"/>
            <a:ext cx="110916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</a:rPr>
              <a:t>• 브리티웍스·지능형 업무시스템에 MCP 서버로 연결 시 즉시 활용 가능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5907024"/>
            <a:ext cx="110916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</a:rPr>
              <a:t>• 새로운 AI 플랫폼 도입 시에도 OpenAlio MCP는 그대로 재사용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14  향후 발전 방향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0467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BBDEFB"/>
                </a:solidFill>
              </a:rPr>
              <a:t>단계적 확장을 통해 공공기관 정보공개 체계를 AI 시대에 맞게 고도화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2881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BDEFB"/>
                </a:solidFill>
              </a:rPr>
              <a:t>OpenAlio MCP  |  14 / 15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417320"/>
            <a:ext cx="2697480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417320"/>
            <a:ext cx="2697480" cy="59436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46304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대국민 서비스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148840"/>
            <a:ext cx="91440" cy="9144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130552"/>
            <a:ext cx="2240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</a:rPr>
              <a:t>ALIO 챗봇 구현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743200"/>
            <a:ext cx="91440" cy="9144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724912"/>
            <a:ext cx="2240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</a:rPr>
              <a:t>기관 비교 서비스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337560"/>
            <a:ext cx="91440" cy="9144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319272"/>
            <a:ext cx="2240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</a:rPr>
              <a:t>정책 팩트체크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1840" y="1417320"/>
            <a:ext cx="2697480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91840" y="1417320"/>
            <a:ext cx="2697480" cy="5943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83280" y="146304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내부 업무 지원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29000" y="2148840"/>
            <a:ext cx="91440" cy="9144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2130552"/>
            <a:ext cx="2240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</a:rPr>
              <a:t>증원심사 지원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29000" y="2743200"/>
            <a:ext cx="91440" cy="9144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11880" y="2724912"/>
            <a:ext cx="2240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</a:rPr>
              <a:t>기능개혁 지원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29000" y="3337560"/>
            <a:ext cx="91440" cy="9144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11880" y="3319272"/>
            <a:ext cx="2240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</a:rPr>
              <a:t>경영평가 지원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29000" y="3931920"/>
            <a:ext cx="91440" cy="9144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11880" y="3913632"/>
            <a:ext cx="2240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</a:rPr>
              <a:t>언론 대응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429000" y="4526280"/>
            <a:ext cx="91440" cy="9144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11880" y="4507992"/>
            <a:ext cx="2240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</a:rPr>
              <a:t>기관현황 자동 작성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17920" y="1417320"/>
            <a:ext cx="2697480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17920" y="1417320"/>
            <a:ext cx="2697480" cy="59436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146304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연구 활용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55080" y="2148840"/>
            <a:ext cx="91440" cy="9144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37960" y="2130552"/>
            <a:ext cx="2240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</a:rPr>
              <a:t>공공기관 데이터
분석 플랫폼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5080" y="2743200"/>
            <a:ext cx="91440" cy="9144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37960" y="2724912"/>
            <a:ext cx="2240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</a:rPr>
              <a:t>평가결과 데이터 추가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55080" y="3337560"/>
            <a:ext cx="91440" cy="9144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37960" y="3319272"/>
            <a:ext cx="2240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</a:rPr>
              <a:t>국회·조달 데이터 연계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144000" y="1417320"/>
            <a:ext cx="2697480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144000" y="1417320"/>
            <a:ext cx="2697480" cy="59436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235440" y="146304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인프라 고도화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281160" y="2148840"/>
            <a:ext cx="91440" cy="9144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464040" y="2130552"/>
            <a:ext cx="2240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</a:rPr>
              <a:t>HTTP/SSE 서버 전환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281160" y="2743200"/>
            <a:ext cx="91440" cy="9144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464040" y="2724912"/>
            <a:ext cx="2240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</a:rPr>
              <a:t>인증·속도제한 적용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281160" y="3337560"/>
            <a:ext cx="91440" cy="9144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464040" y="3319272"/>
            <a:ext cx="2240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</a:rPr>
              <a:t>자동 업데이트 파이프라인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281160" y="3931920"/>
            <a:ext cx="91440" cy="9144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464040" y="3913632"/>
            <a:ext cx="2240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</a:rPr>
              <a:t>보안 심의 대응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6263640"/>
            <a:ext cx="11457432" cy="384048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6281928"/>
            <a:ext cx="110916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현재 Phase 2 (로컬 MCP 서버) → Phase 4 (공개 HTTP 서버 + 인증 + 자동 업데이트)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31352" y="0"/>
            <a:ext cx="3657600" cy="6858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39913" y="457200"/>
            <a:ext cx="137160" cy="5943600"/>
          </a:xfrm>
          <a:prstGeom prst="rect">
            <a:avLst/>
          </a:prstGeom>
          <a:solidFill>
            <a:srgbClr val="F57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73152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BBDEFB"/>
                </a:solidFill>
              </a:rPr>
              <a:t>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6400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</a:rPr>
              <a:t>정보공개의 다음 단계는
정보 활용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34640"/>
            <a:ext cx="4572000" cy="54864"/>
          </a:xfrm>
          <a:prstGeom prst="rect">
            <a:avLst/>
          </a:prstGeom>
          <a:solidFill>
            <a:srgbClr val="F57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06324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BBDEFB"/>
                </a:solidFill>
              </a:rPr>
              <a:t>OpenAlio MCP는 공공기관 정보공개 체계를 AI 시대에 맞게 확장하기 위한 실험입니다.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02152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BBDEFB"/>
                </a:solidFill>
              </a:rPr>
              <a:t>궁극적으로는 국민과 행정이 공공기관 정보를 더 쉽고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941064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BBDEFB"/>
                </a:solidFill>
              </a:rPr>
              <a:t>효과적으로 활용할 수 있도록 지원합니다.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572000"/>
            <a:ext cx="1645920" cy="1645920"/>
          </a:xfrm>
          <a:prstGeom prst="rect">
            <a:avLst/>
          </a:prstGeom>
          <a:solidFill>
            <a:srgbClr val="F57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66344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12121"/>
                </a:solidFill>
              </a:rPr>
              <a:t>개방성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25780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212121"/>
                </a:solidFill>
              </a:rPr>
              <a:t>오픈소스
누구나 기여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60320" y="4572000"/>
            <a:ext cx="1645920" cy="1645920"/>
          </a:xfrm>
          <a:prstGeom prst="rect">
            <a:avLst/>
          </a:prstGeom>
          <a:solidFill>
            <a:srgbClr val="F57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60320" y="466344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12121"/>
                </a:solidFill>
              </a:rPr>
              <a:t>연결성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20" y="525780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212121"/>
                </a:solidFill>
              </a:rPr>
              <a:t>AI-데이터
표준 연결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80560" y="4572000"/>
            <a:ext cx="1645920" cy="1645920"/>
          </a:xfrm>
          <a:prstGeom prst="rect">
            <a:avLst/>
          </a:prstGeom>
          <a:solidFill>
            <a:srgbClr val="F57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466344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12121"/>
                </a:solidFill>
              </a:rPr>
              <a:t>활용성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525780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212121"/>
                </a:solidFill>
              </a:rPr>
              <a:t>질문 한 번
즉시 분석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94360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57F17"/>
                </a:solidFill>
              </a:rPr>
              <a:t>감사합니다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